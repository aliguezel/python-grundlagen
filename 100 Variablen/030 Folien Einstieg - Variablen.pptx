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77" r:id="rId2"/>
    <p:sldId id="408" r:id="rId3"/>
    <p:sldId id="397" r:id="rId4"/>
    <p:sldId id="410" r:id="rId5"/>
    <p:sldId id="398" r:id="rId6"/>
    <p:sldId id="400" r:id="rId7"/>
    <p:sldId id="391" r:id="rId8"/>
    <p:sldId id="401" r:id="rId9"/>
    <p:sldId id="409" r:id="rId10"/>
    <p:sldId id="392" r:id="rId11"/>
    <p:sldId id="402" r:id="rId12"/>
    <p:sldId id="403" r:id="rId13"/>
    <p:sldId id="404" r:id="rId14"/>
    <p:sldId id="399" r:id="rId15"/>
    <p:sldId id="405" r:id="rId16"/>
    <p:sldId id="384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rk Laschet" initials="DL" lastIdx="1" clrIdx="0">
    <p:extLst>
      <p:ext uri="{19B8F6BF-5375-455C-9EA6-DF929625EA0E}">
        <p15:presenceInfo xmlns:p15="http://schemas.microsoft.com/office/powerpoint/2012/main" userId="b8bbcb430da5cf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76580" autoAdjust="0"/>
  </p:normalViewPr>
  <p:slideViewPr>
    <p:cSldViewPr snapToGrid="0">
      <p:cViewPr varScale="1">
        <p:scale>
          <a:sx n="63" d="100"/>
          <a:sy n="63" d="100"/>
        </p:scale>
        <p:origin x="1133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451F6-7A18-438F-9E8B-D42034ACC809}" type="datetimeFigureOut">
              <a:rPr lang="de-DE" smtClean="0"/>
              <a:t>26.05.2020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9F0A-2960-43F0-9ACB-8D7CF93E35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64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daher auch die Bezeichnung Variable, variabler, veränderlicher Inhalt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In anderen Programmiersprachen gibt es Konstanten, die es in Python nicht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9F0A-2960-43F0-9ACB-8D7CF93E353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972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daher auch die Bezeichnung Variable, variabler, veränderlicher Inhalt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/>
              <a:t>In anderen Programmiersprachen gibt es Konstanten, die es in Python nicht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9F0A-2960-43F0-9ACB-8D7CF93E353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84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Zahl = 1741</a:t>
            </a:r>
          </a:p>
          <a:p>
            <a:r>
              <a:rPr lang="de-DE"/>
              <a:t>LetzteZahl = Zahl % 10</a:t>
            </a:r>
          </a:p>
          <a:p>
            <a:r>
              <a:rPr lang="de-DE"/>
              <a:t>PruefZahl = LetzteZahl % 7</a:t>
            </a:r>
          </a:p>
          <a:p>
            <a:r>
              <a:rPr lang="de-DE"/>
              <a:t>Zahl = Zahl // 10</a:t>
            </a:r>
          </a:p>
          <a:p>
            <a:r>
              <a:rPr lang="de-DE"/>
              <a:t>LetzteZahl = Zahl % 10</a:t>
            </a:r>
          </a:p>
          <a:p>
            <a:r>
              <a:rPr lang="de-DE"/>
              <a:t>PruefZahl = LetzteZahl % 7</a:t>
            </a:r>
          </a:p>
          <a:p>
            <a:r>
              <a:rPr lang="de-DE"/>
              <a:t>Zahl = Zahl // 10</a:t>
            </a:r>
          </a:p>
          <a:p>
            <a:r>
              <a:rPr lang="de-DE"/>
              <a:t>LetzteZahl = Zahl % 10</a:t>
            </a:r>
          </a:p>
          <a:p>
            <a:r>
              <a:rPr lang="de-DE"/>
              <a:t>PruefZahl = LetzteZahl % 7</a:t>
            </a:r>
          </a:p>
          <a:p>
            <a:r>
              <a:rPr lang="de-DE"/>
              <a:t>PruefZahl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9F0A-2960-43F0-9ACB-8D7CF93E353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2898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8EC45-4F25-416F-8787-2870BEE8A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22FAED-008F-465E-8F79-5ED78D995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37E27-B85C-414A-8B9C-987E4D3E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3FA3B-DD87-4F0F-B427-80F25DB75CD4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AF7560-ADEF-43B1-919D-5DDDBCE6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2D5DD-31D2-498C-A350-32641ADB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2833EE79-2FB7-415C-806B-64D0FD955B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63192-725A-487D-8C86-4ABE399B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60C03A-3477-4092-9920-36DA1B3C5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89E881-F3A1-43C6-9D9E-8373EE1E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81B68-778F-496B-9C83-893C0D535B62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88A518-B7A4-4E58-9064-622FA82D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B48506-E09B-403E-A3F0-A63151FD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Logo.bmp">
            <a:extLst>
              <a:ext uri="{FF2B5EF4-FFF2-40B4-BE49-F238E27FC236}">
                <a16:creationId xmlns:a16="http://schemas.microsoft.com/office/drawing/2014/main" id="{46103F6A-8708-44AB-8D9F-F1CC31D7BD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4616" y="268648"/>
            <a:ext cx="22574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4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3E59D-82DA-4F02-8578-BD6D7F35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26E861-4E96-452B-9BF3-9E1CEB46E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B63D0-6425-435B-AC9D-28AEADFC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FD8C1-4E45-46E3-9A9D-A815C3215317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C0A9B2-D064-47C5-9366-F2EA09B6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72B286-0CE6-4E2D-9140-184ACC5D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60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E960A-2499-44E2-9534-D3B4E280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8ADD5-0B77-4BA5-98DE-FA2073DAD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26F414-1EA9-46CE-9823-BFA9E41AB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9D4509-39B2-437D-AC27-D61B433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77C25-A4A0-42D6-BD9B-9A240B4624EB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892418-4170-439B-8D27-560E895E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15C1CD-9226-41C8-A48A-07CD62AB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63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7710B-0FD8-431A-8D41-B4C60CCC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7DEC6F-624F-4DCB-ACB4-F396AD96D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C69829-1984-4EED-9A8D-F8174CA0A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A126FB-91AA-4B69-9949-D6DD56A29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E6D73D-07A1-4A68-BB6B-9A0EE6536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60478F-4B86-4BB2-8596-64526A2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B5599-6B4A-4DFC-A7F5-522FF3496140}" type="datetime1">
              <a:rPr lang="de-DE" smtClean="0"/>
              <a:t>26.05.2020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905227F-46AA-41CE-BF87-B719FC7D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6CE8A1-6523-47FE-BBD4-73DBD7F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63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4B2024-529F-44DC-ADB2-0F58F0A0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B728269-2505-4796-B664-CBC8B0A5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978DD-18DB-449B-BABD-149AB6679793}" type="datetime1">
              <a:rPr lang="de-DE" smtClean="0"/>
              <a:t>26.05.2020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B574E2-8690-48AB-9090-6F0A1890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150170-A5A3-42A1-8C9D-66E17D4C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5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8C8E3D-D4A2-4785-AA3B-8F57BDE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385C6-D204-42B9-B79A-528864D028C8}" type="datetime1">
              <a:rPr lang="de-DE" smtClean="0"/>
              <a:t>26.05.2020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DFF441-D0B2-4DD3-982C-DDE79F4F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F3C547-5653-4CAB-9D2E-84757778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69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4E9DF-B83D-452A-B2EB-9AC1AE66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58BFB-5F17-4C91-AB76-C78F020A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235C2F-5F91-453D-89B2-8BDA2FD96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940055-89D4-4DBE-9EE6-6B073F2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FD38-E962-4825-82ED-33F0BA6CC5E1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FA9843-F552-4D58-84F4-CC7C7BC1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6EA452-8867-401C-9475-AD912C47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50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8A700-2439-42E9-A5E3-8BB2AD44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35B52EC-60F8-48B3-8B3D-D5AC14B1B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505568-C4E2-4E54-96E4-E27A41998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B32513-8856-4229-B866-2C23242B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119B4-6217-4322-9F00-15B902AEEE51}" type="datetime1">
              <a:rPr lang="de-DE" smtClean="0"/>
              <a:t>26.05.2020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68B59-E514-4542-A1FA-17C3A1E6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78EC1E-6ADD-474B-B7FE-C35BEB4C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1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9A603-9691-4E85-A571-123AF366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9EB5C9-7F70-49ED-9983-18D5007F9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7994F-CD7F-4CBA-BBBD-8880CE42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65F9-20C0-49EB-8233-24FD411188CD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9E5A63-3043-4C8F-9E8D-ACEDCC61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8CC81-DF3C-4F48-86C4-AE6EB4B1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63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E9C0A0-AD80-44D7-AFCB-82B37CA32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CCF23D-445F-49E2-AC33-2BD14A534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30BB9-AAC7-4856-9551-08618723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DEC1-DA82-41E2-87CC-4CC7733125DA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873AC-4135-461E-AE36-FEB6B49C9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F60E42-A264-4FE9-BB6A-FAFB0D8F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48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0AB7A2-BAAB-4336-A32C-4086704A9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196D9C-4321-4CBA-B782-6790DBF5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499A4A-0DA4-42E5-AC78-0994FDECA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0626B-A1B2-4895-BA31-01383DCCF764}" type="datetime1">
              <a:rPr lang="de-DE" smtClean="0"/>
              <a:t>26.05.2020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0DB357-E775-4D1B-AAD9-7A8858DA3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Python interaktiv vs. Programmierung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F1B6ED-2D3B-4D18-906F-EEC6C6C23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5A222-EE51-4391-9872-7528E614F5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04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F6A45-EA8E-4B88-BDEF-A737141F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003E4-4BBF-46AF-9B01-C5F26CE1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Python interaktiv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Algorithmen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Verflixte Sieben als Problemstellung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Instruktionen bündeln</a:t>
            </a:r>
          </a:p>
          <a:p>
            <a:pPr marL="360363" indent="-360363"/>
            <a:r>
              <a:rPr lang="de-DE"/>
              <a:t>Grundelemente der Programmierung</a:t>
            </a:r>
          </a:p>
          <a:p>
            <a:pPr marL="719138" lvl="1" indent="-360363"/>
            <a:r>
              <a:rPr lang="de-DE"/>
              <a:t>Variablen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bedingte Anweisungen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Schleifen</a:t>
            </a:r>
          </a:p>
          <a:p>
            <a:pPr marL="360363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Lösung verflixte Sieben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DFD074-9DA2-48A1-AE83-EEB62B2F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1F914A-9346-428F-BEB8-582F21A0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DFA8AC50-65B9-4985-A01B-0D2B5A0A4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39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A16391-8173-4952-BDB9-17B8A8E1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923441-394A-4D76-83B0-F63930D14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0D72D9-4252-403B-B96E-58D3D243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017B35-B1D6-4947-B79B-D63FEC82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8390243-AF7D-47EC-ACE2-46716F611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437" y="2223656"/>
            <a:ext cx="4080164" cy="340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2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CC042-6442-449A-896F-CB21301D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891AF9-EA7C-4D4E-AE04-EF433C4F3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Zwischenergebnisse müssen manuell übertragen werden</a:t>
            </a:r>
          </a:p>
          <a:p>
            <a:pPr marL="0" indent="0">
              <a:buNone/>
            </a:pPr>
            <a:r>
              <a:rPr lang="de-DE"/>
              <a:t>Programm kann für eine andere Zahl eingesetzt werden</a:t>
            </a:r>
          </a:p>
          <a:p>
            <a:pPr marL="0" indent="0">
              <a:buNone/>
            </a:pP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4A0D51-914B-45F2-8D3B-88D494D4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B5EEEE-FD55-4FB5-B536-4D983AB2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3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D2A8E20-8804-47DA-B281-D5F00750C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251" y="1162455"/>
            <a:ext cx="3245898" cy="291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90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CC042-6442-449A-896F-CB21301D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Programmierung Anforderung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891AF9-EA7C-4D4E-AE04-EF433C4F3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Ergebnisse merken und wiederverwenden können</a:t>
            </a:r>
          </a:p>
          <a:p>
            <a:pPr marL="0" indent="0">
              <a:buNone/>
            </a:pPr>
            <a:r>
              <a:rPr lang="de-DE"/>
              <a:t>mit Platzhaltern arbeiten =&gt; andere Zahlen können geprüft werden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4A0D51-914B-45F2-8D3B-88D494D4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B5EEEE-FD55-4FB5-B536-4D983AB2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BAE6FFCC-EFF5-40B1-B619-CB22DD432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D2A8E20-8804-47DA-B281-D5F00750C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251" y="1162455"/>
            <a:ext cx="3245898" cy="291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96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99DAE9-855A-4DC6-A486-EFD81065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Definition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6BB700-4BE4-4BF9-A026-A279F5BE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8E961E-ADBD-4528-A5B7-73CBC86D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5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B440169-4144-4544-A42A-3A89AFDB8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3697288"/>
            <a:ext cx="3903980" cy="79077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D139A6D-4648-4DD9-B4CD-8BEC8FA0E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786" y="2513642"/>
            <a:ext cx="972768" cy="36069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C818DDA-865D-4032-AB6D-F792FDF1E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764" y="2938952"/>
            <a:ext cx="2219962" cy="216913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9E30CDE-14C6-4318-B9E8-6CED93249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450" y="3327822"/>
            <a:ext cx="2295276" cy="191440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329BC9F-D119-41B4-AF10-D173C89AE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3680" y="4048170"/>
            <a:ext cx="1339618" cy="7449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26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7.40741E-7 L -0.26654 -0.275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33" y="-1377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0.13269 0.080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28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900000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</p:cBhvr>
                                      <p:by x="45000" y="4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44444E-6 L -0.31329 0.0099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64" y="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BEBE8-283E-44F3-840F-E31D22C2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1B0CB-0843-44F7-80CD-8189EBC1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Anzeigen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6BFB5-E0EB-4F7A-A19B-E9F0437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1C89EC-FBF9-4847-BC66-C2BA7AC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6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D3F189B9-45AD-456E-AF9B-0717FF7AF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2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arton geöffnet">
            <a:extLst>
              <a:ext uri="{FF2B5EF4-FFF2-40B4-BE49-F238E27FC236}">
                <a16:creationId xmlns:a16="http://schemas.microsoft.com/office/drawing/2014/main" id="{4BFCBE55-0AB4-4140-92C2-25C7420DE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524" y="2857959"/>
            <a:ext cx="3528366" cy="2231909"/>
          </a:xfrm>
          <a:prstGeom prst="rect">
            <a:avLst/>
          </a:prstGeom>
        </p:spPr>
      </p:pic>
      <p:pic>
        <p:nvPicPr>
          <p:cNvPr id="12" name="Karton geschlossen">
            <a:extLst>
              <a:ext uri="{FF2B5EF4-FFF2-40B4-BE49-F238E27FC236}">
                <a16:creationId xmlns:a16="http://schemas.microsoft.com/office/drawing/2014/main" id="{3FD8C74A-38AB-4D29-936E-7B5ADD10F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524" y="3323718"/>
            <a:ext cx="2294790" cy="1914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99DAE9-855A-4DC6-A486-EFD81065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6BB700-4BE4-4BF9-A026-A279F5BE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8E961E-ADBD-4528-A5B7-73CBC86D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7</a:t>
            </a:fld>
            <a:endParaRPr lang="de-DE"/>
          </a:p>
        </p:txBody>
      </p:sp>
      <p:pic>
        <p:nvPicPr>
          <p:cNvPr id="11" name="Befehle">
            <a:extLst>
              <a:ext uri="{FF2B5EF4-FFF2-40B4-BE49-F238E27FC236}">
                <a16:creationId xmlns:a16="http://schemas.microsoft.com/office/drawing/2014/main" id="{EB96D6CC-1B40-4559-8592-0F3905A6D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143" y="3834616"/>
            <a:ext cx="3158376" cy="12552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374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44444E-6 L -0.2987 -0.2937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35" y="-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BEBE8-283E-44F3-840F-E31D22C2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1B0CB-0843-44F7-80CD-8189EBC1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Anzeigen</a:t>
            </a:r>
          </a:p>
          <a:p>
            <a:r>
              <a:rPr lang="de-DE"/>
              <a:t>neuen Wert zuweisen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6BFB5-E0EB-4F7A-A19B-E9F0437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1C89EC-FBF9-4847-BC66-C2BA7AC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8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F6BA434A-362E-4871-80A1-F2A6CBE06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21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BEBE8-283E-44F3-840F-E31D22C2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1B0CB-0843-44F7-80CD-8189EBC1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Anzeigen</a:t>
            </a:r>
          </a:p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neuen Wert zuweisen</a:t>
            </a:r>
          </a:p>
          <a:p>
            <a:r>
              <a:rPr lang="de-DE"/>
              <a:t>Herausnehmen und bei Berechnung verwenden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6BFB5-E0EB-4F7A-A19B-E9F0437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1C89EC-FBF9-4847-BC66-C2BA7AC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9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10864AF6-72D8-4CBE-B54E-5D3255C01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3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DE37D9-D453-4BF2-A2E6-43656E1F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F05CCB-245A-4940-9446-E5C18EB2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4C7406-0B1E-4AED-BCE2-6BD008F2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7B5A37-7D3E-4377-940C-6AEA9762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10</a:t>
            </a:fld>
            <a:endParaRPr lang="de-DE"/>
          </a:p>
        </p:txBody>
      </p:sp>
      <p:pic>
        <p:nvPicPr>
          <p:cNvPr id="6" name="1 Zuweisung">
            <a:extLst>
              <a:ext uri="{FF2B5EF4-FFF2-40B4-BE49-F238E27FC236}">
                <a16:creationId xmlns:a16="http://schemas.microsoft.com/office/drawing/2014/main" id="{9A9D662E-FCF6-4271-8FC6-BEC9E9080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400" y="3429000"/>
            <a:ext cx="4003643" cy="751776"/>
          </a:xfrm>
          <a:prstGeom prst="rect">
            <a:avLst/>
          </a:prstGeom>
        </p:spPr>
      </p:pic>
      <p:pic>
        <p:nvPicPr>
          <p:cNvPr id="10" name="2 geschlossenerf Karton">
            <a:extLst>
              <a:ext uri="{FF2B5EF4-FFF2-40B4-BE49-F238E27FC236}">
                <a16:creationId xmlns:a16="http://schemas.microsoft.com/office/drawing/2014/main" id="{78940BD9-9C0C-4350-A917-E7788B007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81" y="3603449"/>
            <a:ext cx="2294790" cy="1914001"/>
          </a:xfrm>
          <a:prstGeom prst="rect">
            <a:avLst/>
          </a:prstGeom>
        </p:spPr>
      </p:pic>
      <p:pic>
        <p:nvPicPr>
          <p:cNvPr id="8" name="3 Berechnung">
            <a:extLst>
              <a:ext uri="{FF2B5EF4-FFF2-40B4-BE49-F238E27FC236}">
                <a16:creationId xmlns:a16="http://schemas.microsoft.com/office/drawing/2014/main" id="{FEC49CC4-054D-40E3-A2D3-4F2A944E3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70075"/>
            <a:ext cx="5422414" cy="1073861"/>
          </a:xfrm>
          <a:prstGeom prst="rect">
            <a:avLst/>
          </a:prstGeom>
        </p:spPr>
      </p:pic>
      <p:pic>
        <p:nvPicPr>
          <p:cNvPr id="9" name="4 Wert herausnehmen">
            <a:extLst>
              <a:ext uri="{FF2B5EF4-FFF2-40B4-BE49-F238E27FC236}">
                <a16:creationId xmlns:a16="http://schemas.microsoft.com/office/drawing/2014/main" id="{6DDBEB13-52D0-49F0-A27E-2137EBA62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769" y="3133310"/>
            <a:ext cx="3528366" cy="2231909"/>
          </a:xfrm>
          <a:prstGeom prst="rect">
            <a:avLst/>
          </a:prstGeom>
        </p:spPr>
      </p:pic>
      <p:pic>
        <p:nvPicPr>
          <p:cNvPr id="13" name="5 CPU rechnet">
            <a:extLst>
              <a:ext uri="{FF2B5EF4-FFF2-40B4-BE49-F238E27FC236}">
                <a16:creationId xmlns:a16="http://schemas.microsoft.com/office/drawing/2014/main" id="{94C36B32-85AE-45A9-B3F3-6F3E59106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518" y="2044888"/>
            <a:ext cx="2232853" cy="1760000"/>
          </a:xfrm>
          <a:prstGeom prst="rect">
            <a:avLst/>
          </a:prstGeom>
        </p:spPr>
      </p:pic>
      <p:pic>
        <p:nvPicPr>
          <p:cNvPr id="12" name="6 Wert wieder einpacken">
            <a:extLst>
              <a:ext uri="{FF2B5EF4-FFF2-40B4-BE49-F238E27FC236}">
                <a16:creationId xmlns:a16="http://schemas.microsoft.com/office/drawing/2014/main" id="{28BCEA07-F22E-4A51-BE50-AC139D7283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152" y="3161449"/>
            <a:ext cx="3012712" cy="220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8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11111E-6 L -0.24557 -0.241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79" y="-1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1BEBE8-283E-44F3-840F-E31D22C2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1B0CB-0843-44F7-80CD-8189EBC1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Anzeigen</a:t>
            </a:r>
          </a:p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neuen Wert zuweisen</a:t>
            </a:r>
          </a:p>
          <a:p>
            <a:r>
              <a:rPr lang="de-DE">
                <a:solidFill>
                  <a:schemeClr val="bg2">
                    <a:lumMod val="75000"/>
                  </a:schemeClr>
                </a:solidFill>
              </a:rPr>
              <a:t>Herausnehmen und bei Berechnung verwenden</a:t>
            </a:r>
          </a:p>
          <a:p>
            <a:r>
              <a:rPr lang="de-DE"/>
              <a:t>zwei Variablen addieren und in dritter Variablen speichern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6BFB5-E0EB-4F7A-A19B-E9F04370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1C89EC-FBF9-4847-BC66-C2BA7AC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11</a:t>
            </a:fld>
            <a:endParaRPr lang="de-DE"/>
          </a:p>
        </p:txBody>
      </p:sp>
      <p:pic>
        <p:nvPicPr>
          <p:cNvPr id="7" name="Grafik 6" descr="Cmd (Terminal)">
            <a:extLst>
              <a:ext uri="{FF2B5EF4-FFF2-40B4-BE49-F238E27FC236}">
                <a16:creationId xmlns:a16="http://schemas.microsoft.com/office/drawing/2014/main" id="{8B00DDE5-D5AF-41F0-8369-17F07383D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6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971B0-6FB5-409C-826B-FD20FB53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BB2D3-E4A6-4681-BBCF-DABA87FF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FF29D4-8DE8-4A88-8889-D9C89D14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338546-CA5D-4B92-AE4A-656BC7CA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12</a:t>
            </a:fld>
            <a:endParaRPr lang="de-DE"/>
          </a:p>
        </p:txBody>
      </p:sp>
      <p:pic>
        <p:nvPicPr>
          <p:cNvPr id="6" name="1 Instruktion 1">
            <a:extLst>
              <a:ext uri="{FF2B5EF4-FFF2-40B4-BE49-F238E27FC236}">
                <a16:creationId xmlns:a16="http://schemas.microsoft.com/office/drawing/2014/main" id="{B80875C7-63D3-4356-9129-0C14700C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132250"/>
            <a:ext cx="3705359" cy="593499"/>
          </a:xfrm>
          <a:prstGeom prst="rect">
            <a:avLst/>
          </a:prstGeom>
        </p:spPr>
      </p:pic>
      <p:pic>
        <p:nvPicPr>
          <p:cNvPr id="7" name="2 Zahl 1 verpacken">
            <a:extLst>
              <a:ext uri="{FF2B5EF4-FFF2-40B4-BE49-F238E27FC236}">
                <a16:creationId xmlns:a16="http://schemas.microsoft.com/office/drawing/2014/main" id="{290D058A-B3E0-4C9F-9A50-4C71A16AA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993" y="2335665"/>
            <a:ext cx="2700572" cy="2186667"/>
          </a:xfrm>
          <a:prstGeom prst="rect">
            <a:avLst/>
          </a:prstGeom>
        </p:spPr>
      </p:pic>
      <p:pic>
        <p:nvPicPr>
          <p:cNvPr id="8" name="3 Zahl 1 verschlossen">
            <a:extLst>
              <a:ext uri="{FF2B5EF4-FFF2-40B4-BE49-F238E27FC236}">
                <a16:creationId xmlns:a16="http://schemas.microsoft.com/office/drawing/2014/main" id="{5BCDCC31-DA2D-48EC-8579-FE2900A3C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605" y="2743268"/>
            <a:ext cx="2294790" cy="1914001"/>
          </a:xfrm>
          <a:prstGeom prst="rect">
            <a:avLst/>
          </a:prstGeom>
        </p:spPr>
      </p:pic>
      <p:pic>
        <p:nvPicPr>
          <p:cNvPr id="9" name="4 Instruktion 2">
            <a:extLst>
              <a:ext uri="{FF2B5EF4-FFF2-40B4-BE49-F238E27FC236}">
                <a16:creationId xmlns:a16="http://schemas.microsoft.com/office/drawing/2014/main" id="{6E93663C-B7D1-41D3-8E87-C66175492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176247"/>
            <a:ext cx="3956414" cy="1099004"/>
          </a:xfrm>
          <a:prstGeom prst="rect">
            <a:avLst/>
          </a:prstGeom>
        </p:spPr>
      </p:pic>
      <p:pic>
        <p:nvPicPr>
          <p:cNvPr id="10" name="5 Zahl2 verpacken">
            <a:extLst>
              <a:ext uri="{FF2B5EF4-FFF2-40B4-BE49-F238E27FC236}">
                <a16:creationId xmlns:a16="http://schemas.microsoft.com/office/drawing/2014/main" id="{A42BCC19-A2FA-45B3-B783-61FA5E93B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724" y="2317795"/>
            <a:ext cx="2652551" cy="2222410"/>
          </a:xfrm>
          <a:prstGeom prst="rect">
            <a:avLst/>
          </a:prstGeom>
        </p:spPr>
      </p:pic>
      <p:pic>
        <p:nvPicPr>
          <p:cNvPr id="11" name="6 Zahl 2 Verschlossen">
            <a:extLst>
              <a:ext uri="{FF2B5EF4-FFF2-40B4-BE49-F238E27FC236}">
                <a16:creationId xmlns:a16="http://schemas.microsoft.com/office/drawing/2014/main" id="{E08A0CB8-6923-4D7A-AEA5-D90211C46A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8605" y="2743267"/>
            <a:ext cx="2294790" cy="191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2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 L -0.26302 -0.1909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51" y="-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36432 -0.2187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16" y="-1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-0.28164 -0.19398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89" y="-9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36068 0.2555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34" y="1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971B0-6FB5-409C-826B-FD20FB53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BB2D3-E4A6-4681-BBCF-DABA87FF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FF29D4-8DE8-4A88-8889-D9C89D14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338546-CA5D-4B92-AE4A-656BC7CA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13</a:t>
            </a:fld>
            <a:endParaRPr lang="de-DE"/>
          </a:p>
        </p:txBody>
      </p:sp>
      <p:pic>
        <p:nvPicPr>
          <p:cNvPr id="8" name="1 Zahl 1 verschlossen">
            <a:extLst>
              <a:ext uri="{FF2B5EF4-FFF2-40B4-BE49-F238E27FC236}">
                <a16:creationId xmlns:a16="http://schemas.microsoft.com/office/drawing/2014/main" id="{5BCDCC31-DA2D-48EC-8579-FE2900A3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89" y="1132182"/>
            <a:ext cx="2294790" cy="1914001"/>
          </a:xfrm>
          <a:prstGeom prst="rect">
            <a:avLst/>
          </a:prstGeom>
        </p:spPr>
      </p:pic>
      <p:pic>
        <p:nvPicPr>
          <p:cNvPr id="11" name="2 Zahl 2 Verschlossen">
            <a:extLst>
              <a:ext uri="{FF2B5EF4-FFF2-40B4-BE49-F238E27FC236}">
                <a16:creationId xmlns:a16="http://schemas.microsoft.com/office/drawing/2014/main" id="{E08A0CB8-6923-4D7A-AEA5-D90211C46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833" y="4412411"/>
            <a:ext cx="2294790" cy="1914001"/>
          </a:xfrm>
          <a:prstGeom prst="rect">
            <a:avLst/>
          </a:prstGeom>
        </p:spPr>
      </p:pic>
      <p:pic>
        <p:nvPicPr>
          <p:cNvPr id="13" name="3 Zahl 1 offen">
            <a:extLst>
              <a:ext uri="{FF2B5EF4-FFF2-40B4-BE49-F238E27FC236}">
                <a16:creationId xmlns:a16="http://schemas.microsoft.com/office/drawing/2014/main" id="{A8646C95-103A-46D3-AA7C-5D31C3B11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492" y="2258981"/>
            <a:ext cx="3349015" cy="2340038"/>
          </a:xfrm>
          <a:prstGeom prst="rect">
            <a:avLst/>
          </a:prstGeom>
        </p:spPr>
      </p:pic>
      <p:pic>
        <p:nvPicPr>
          <p:cNvPr id="14" name="4 Zahl 1 entnommen">
            <a:extLst>
              <a:ext uri="{FF2B5EF4-FFF2-40B4-BE49-F238E27FC236}">
                <a16:creationId xmlns:a16="http://schemas.microsoft.com/office/drawing/2014/main" id="{B49D5363-1B65-4B2F-908B-75ADC42A6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739" y="2464883"/>
            <a:ext cx="972768" cy="360691"/>
          </a:xfrm>
          <a:prstGeom prst="rect">
            <a:avLst/>
          </a:prstGeom>
        </p:spPr>
      </p:pic>
      <p:pic>
        <p:nvPicPr>
          <p:cNvPr id="15" name="5 Zahl 2 offen">
            <a:extLst>
              <a:ext uri="{FF2B5EF4-FFF2-40B4-BE49-F238E27FC236}">
                <a16:creationId xmlns:a16="http://schemas.microsoft.com/office/drawing/2014/main" id="{ECEE152B-04B7-468F-9E15-B1B3BFBAD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741" y="2163133"/>
            <a:ext cx="3132091" cy="2439128"/>
          </a:xfrm>
          <a:prstGeom prst="rect">
            <a:avLst/>
          </a:prstGeom>
        </p:spPr>
      </p:pic>
      <p:pic>
        <p:nvPicPr>
          <p:cNvPr id="16" name="6 Zahl 2 entnommen">
            <a:extLst>
              <a:ext uri="{FF2B5EF4-FFF2-40B4-BE49-F238E27FC236}">
                <a16:creationId xmlns:a16="http://schemas.microsoft.com/office/drawing/2014/main" id="{3724E9CA-FAF6-4107-8200-93C68EF16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8724" y="2395940"/>
            <a:ext cx="972768" cy="360691"/>
          </a:xfrm>
          <a:prstGeom prst="rect">
            <a:avLst/>
          </a:prstGeom>
        </p:spPr>
      </p:pic>
      <p:pic>
        <p:nvPicPr>
          <p:cNvPr id="19" name="8 Berechnen">
            <a:extLst>
              <a:ext uri="{FF2B5EF4-FFF2-40B4-BE49-F238E27FC236}">
                <a16:creationId xmlns:a16="http://schemas.microsoft.com/office/drawing/2014/main" id="{F303242C-E476-4A23-B320-F03494324A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088" y="2395940"/>
            <a:ext cx="1438174" cy="1438174"/>
          </a:xfrm>
          <a:prstGeom prst="rect">
            <a:avLst/>
          </a:prstGeom>
        </p:spPr>
      </p:pic>
      <p:pic>
        <p:nvPicPr>
          <p:cNvPr id="20" name="9 PlusZeichen">
            <a:extLst>
              <a:ext uri="{FF2B5EF4-FFF2-40B4-BE49-F238E27FC236}">
                <a16:creationId xmlns:a16="http://schemas.microsoft.com/office/drawing/2014/main" id="{0204E819-E686-4B06-8148-39B099A36E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7692" y="3929137"/>
            <a:ext cx="360691" cy="252712"/>
          </a:xfrm>
          <a:prstGeom prst="rect">
            <a:avLst/>
          </a:prstGeom>
        </p:spPr>
      </p:pic>
      <p:pic>
        <p:nvPicPr>
          <p:cNvPr id="21" name="10 Gerechnet">
            <a:extLst>
              <a:ext uri="{FF2B5EF4-FFF2-40B4-BE49-F238E27FC236}">
                <a16:creationId xmlns:a16="http://schemas.microsoft.com/office/drawing/2014/main" id="{0494614E-E034-408F-A75B-37D40942A0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7473" y="4276872"/>
            <a:ext cx="772631" cy="669231"/>
          </a:xfrm>
          <a:prstGeom prst="rect">
            <a:avLst/>
          </a:prstGeom>
        </p:spPr>
      </p:pic>
      <p:pic>
        <p:nvPicPr>
          <p:cNvPr id="23" name="11 Ergebnis">
            <a:extLst>
              <a:ext uri="{FF2B5EF4-FFF2-40B4-BE49-F238E27FC236}">
                <a16:creationId xmlns:a16="http://schemas.microsoft.com/office/drawing/2014/main" id="{64ACBC89-312A-4D01-9C1C-A914541BD6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1407" y="5081040"/>
            <a:ext cx="1584762" cy="360691"/>
          </a:xfrm>
          <a:prstGeom prst="rect">
            <a:avLst/>
          </a:prstGeom>
        </p:spPr>
      </p:pic>
      <p:pic>
        <p:nvPicPr>
          <p:cNvPr id="25" name="12 Ergebnis verpacken">
            <a:extLst>
              <a:ext uri="{FF2B5EF4-FFF2-40B4-BE49-F238E27FC236}">
                <a16:creationId xmlns:a16="http://schemas.microsoft.com/office/drawing/2014/main" id="{33057793-3708-4D82-97F8-2889456B53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1407" y="4697509"/>
            <a:ext cx="3756986" cy="1574477"/>
          </a:xfrm>
          <a:prstGeom prst="rect">
            <a:avLst/>
          </a:prstGeom>
        </p:spPr>
      </p:pic>
      <p:pic>
        <p:nvPicPr>
          <p:cNvPr id="26" name="13 erg verpackt">
            <a:extLst>
              <a:ext uri="{FF2B5EF4-FFF2-40B4-BE49-F238E27FC236}">
                <a16:creationId xmlns:a16="http://schemas.microsoft.com/office/drawing/2014/main" id="{8C7A164A-6491-4EC7-ABFC-E0F6774BCC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1194" y="4543619"/>
            <a:ext cx="2294790" cy="191400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8F1CDC8-E36B-4C32-801B-A632EDAFCB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4588" y="1686435"/>
            <a:ext cx="31242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6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7 L -0.41432 0.251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16" y="1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-0.47357 0.2023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85" y="1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4 -0.2270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00" y="-11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5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96296E-6 L -0.06784 0.2129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8" y="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5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0"/>
                            </p:stCondLst>
                            <p:childTnLst>
                              <p:par>
                                <p:cTn id="5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0"/>
                            </p:stCondLst>
                            <p:childTnLst>
                              <p:par>
                                <p:cTn id="6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0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500"/>
                            </p:stCondLst>
                            <p:childTnLst>
                              <p:par>
                                <p:cTn id="8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0"/>
                            </p:stCondLst>
                            <p:childTnLst>
                              <p:par>
                                <p:cTn id="9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0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33333E-6 L 0.11628 -0.24305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07" y="-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4FD23-B101-49FF-BFAD-FAD98505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4F0546-EB80-4080-A35E-A7FCEFB7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/>
              <a:t>Variablen speichern Werte</a:t>
            </a:r>
          </a:p>
          <a:p>
            <a:r>
              <a:rPr lang="de-DE"/>
              <a:t>der Inhalt einer Variablen (ihr Wert) kann wiederverwendet werden</a:t>
            </a:r>
          </a:p>
          <a:p>
            <a:endParaRPr lang="de-DE"/>
          </a:p>
          <a:p>
            <a:r>
              <a:rPr lang="de-DE"/>
              <a:t>Definition einer Variablen besteht aus Bezeichnung, "=" und Wertzuweisung</a:t>
            </a:r>
          </a:p>
          <a:p>
            <a:r>
              <a:rPr lang="de-DE"/>
              <a:t>in Python: keine Typangabe</a:t>
            </a:r>
          </a:p>
          <a:p>
            <a:endParaRPr lang="de-DE"/>
          </a:p>
          <a:p>
            <a:r>
              <a:rPr lang="de-DE"/>
              <a:t>es gibt gültige Bezeichnungen</a:t>
            </a:r>
          </a:p>
          <a:p>
            <a:r>
              <a:rPr lang="de-DE"/>
              <a:t>und 'statthafte' Bezeichnungen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8EA2F8-7E6A-44F7-8587-746D772C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943674-06F2-4A86-86BF-30D73A56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005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91932-8557-4E24-9914-FBE4B305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Variablen: verflixte 7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6F7B60-0DCE-432F-B05C-859D8FAFC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AB2B48-CE64-4A6B-9937-BEB685CD6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4F3D91-DE5C-401E-98B5-9D2F4C26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15</a:t>
            </a:fld>
            <a:endParaRPr lang="de-DE"/>
          </a:p>
        </p:txBody>
      </p:sp>
      <p:pic>
        <p:nvPicPr>
          <p:cNvPr id="6" name="Grafik 5" descr="Cmd (Terminal)">
            <a:extLst>
              <a:ext uri="{FF2B5EF4-FFF2-40B4-BE49-F238E27FC236}">
                <a16:creationId xmlns:a16="http://schemas.microsoft.com/office/drawing/2014/main" id="{3200B30B-45EF-4A97-8230-1D5AF3503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5303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F6A45-EA8E-4B88-BDEF-A737141F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003E4-4BBF-46AF-9B01-C5F26CE1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Python interaktiv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Algorithmen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Verflixte Sieben als Problemstellung</a:t>
            </a:r>
          </a:p>
          <a:p>
            <a:pPr marL="360363" indent="-360363">
              <a:buFont typeface="Wingdings" panose="05000000000000000000" pitchFamily="2" charset="2"/>
              <a:buChar char="ü"/>
            </a:pPr>
            <a:r>
              <a:rPr lang="de-DE">
                <a:solidFill>
                  <a:schemeClr val="bg2">
                    <a:lumMod val="75000"/>
                  </a:schemeClr>
                </a:solidFill>
              </a:rPr>
              <a:t>Instruktionen bündeln</a:t>
            </a:r>
          </a:p>
          <a:p>
            <a:pPr marL="360363" indent="-360363"/>
            <a:r>
              <a:rPr lang="de-DE"/>
              <a:t>Grundelemente der Programmierung</a:t>
            </a:r>
          </a:p>
          <a:p>
            <a:pPr marL="719138" lvl="1" indent="-360363">
              <a:buFont typeface="Wingdings" panose="05000000000000000000" pitchFamily="2" charset="2"/>
              <a:buChar char="ü"/>
            </a:pPr>
            <a:r>
              <a:rPr lang="de-DE"/>
              <a:t>Variablen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bedingte Anweisungen</a:t>
            </a:r>
          </a:p>
          <a:p>
            <a:pPr marL="719138" lvl="1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Schleifen</a:t>
            </a:r>
          </a:p>
          <a:p>
            <a:pPr marL="360363" indent="-360363"/>
            <a:r>
              <a:rPr lang="de-DE">
                <a:solidFill>
                  <a:schemeClr val="bg2">
                    <a:lumMod val="75000"/>
                  </a:schemeClr>
                </a:solidFill>
              </a:rPr>
              <a:t>Lösung verflixte Sieben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DFD074-9DA2-48A1-AE83-EEB62B2F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Python interaktiv vs. Programmierung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1F914A-9346-428F-BEB8-582F21A0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A222-EE51-4391-9872-7528E614F55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793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6.4|2.2|4.9|1.6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6.4|2.2|4.9|1.6|2.4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Breitbild</PresentationFormat>
  <Paragraphs>115</Paragraphs>
  <Slides>16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</vt:lpstr>
      <vt:lpstr>Übersicht</vt:lpstr>
      <vt:lpstr>Variablen: Problemstellung</vt:lpstr>
      <vt:lpstr>Problemstellung</vt:lpstr>
      <vt:lpstr>Programmierung Anforderung</vt:lpstr>
      <vt:lpstr>Variablen: Definition</vt:lpstr>
      <vt:lpstr>Variablen: Verwendung</vt:lpstr>
      <vt:lpstr>Variablen: Verwendung</vt:lpstr>
      <vt:lpstr>Variablen: Verwendung</vt:lpstr>
      <vt:lpstr>Variablen: Verwendung</vt:lpstr>
      <vt:lpstr>Variablen: Verwendung</vt:lpstr>
      <vt:lpstr>Variablen: Verwendung</vt:lpstr>
      <vt:lpstr>Variablen: Verwendung</vt:lpstr>
      <vt:lpstr>Variablen: Verwendung</vt:lpstr>
      <vt:lpstr>Variablen: Zusammenfassung</vt:lpstr>
      <vt:lpstr>Variablen: verflixte 7</vt:lpstr>
      <vt:lpstr>Übersicht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PLinq</dc:title>
  <dc:creator>Dirk Laschet</dc:creator>
  <cp:lastModifiedBy>Dirk Laschet</cp:lastModifiedBy>
  <cp:revision>262</cp:revision>
  <dcterms:created xsi:type="dcterms:W3CDTF">2019-09-03T12:55:23Z</dcterms:created>
  <dcterms:modified xsi:type="dcterms:W3CDTF">2020-05-26T15:01:04Z</dcterms:modified>
</cp:coreProperties>
</file>