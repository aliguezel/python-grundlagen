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9" r:id="rId2"/>
    <p:sldId id="280" r:id="rId3"/>
    <p:sldId id="282" r:id="rId4"/>
    <p:sldId id="284" r:id="rId5"/>
    <p:sldId id="283" r:id="rId6"/>
    <p:sldId id="30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rk Laschet" initials="DL" lastIdx="1" clrIdx="0">
    <p:extLst>
      <p:ext uri="{19B8F6BF-5375-455C-9EA6-DF929625EA0E}">
        <p15:presenceInfo xmlns:p15="http://schemas.microsoft.com/office/powerpoint/2012/main" userId="b8bbcb430da5cfc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79" d="100"/>
          <a:sy n="79" d="100"/>
        </p:scale>
        <p:origin x="749" y="72"/>
      </p:cViewPr>
      <p:guideLst>
        <p:guide orient="horz" pos="2387"/>
        <p:guide pos="52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3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451F6-7A18-438F-9E8B-D42034ACC809}" type="datetimeFigureOut">
              <a:rPr lang="de-DE" smtClean="0"/>
              <a:t>31.10.2020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F9F0A-2960-43F0-9ACB-8D7CF93E353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664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B8EC45-4F25-416F-8787-2870BEE8A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522FAED-008F-465E-8F79-5ED78D995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337E27-B85C-414A-8B9C-987E4D3E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5F67-3A5E-4728-9FD2-F257753E67E4}" type="datetime1">
              <a:rPr lang="de-DE" smtClean="0"/>
              <a:t>31.10.2020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AF7560-ADEF-43B1-919D-5DDDBCE6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E2D5DD-31D2-498C-A350-32641ADB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Logo.bmp">
            <a:extLst>
              <a:ext uri="{FF2B5EF4-FFF2-40B4-BE49-F238E27FC236}">
                <a16:creationId xmlns:a16="http://schemas.microsoft.com/office/drawing/2014/main" id="{2833EE79-2FB7-415C-806B-64D0FD955B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24616" y="268648"/>
            <a:ext cx="2257425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8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B63192-725A-487D-8C86-4ABE399B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60C03A-3477-4092-9920-36DA1B3C5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89E881-F3A1-43C6-9D9E-8373EE1E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1C21F-1447-4E2E-A9E8-6C840034A419}" type="datetime1">
              <a:rPr lang="de-DE" smtClean="0"/>
              <a:t>31.10.2020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88A518-B7A4-4E58-9064-622FA82D5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B48506-E09B-403E-A3F0-A63151FD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Logo.bmp">
            <a:extLst>
              <a:ext uri="{FF2B5EF4-FFF2-40B4-BE49-F238E27FC236}">
                <a16:creationId xmlns:a16="http://schemas.microsoft.com/office/drawing/2014/main" id="{46103F6A-8708-44AB-8D9F-F1CC31D7BD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24616" y="268648"/>
            <a:ext cx="2257425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4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F3E59D-82DA-4F02-8578-BD6D7F35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26E861-4E96-452B-9BF3-9E1CEB46E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6B63D0-6425-435B-AC9D-28AEADFC2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AB8FF-641B-4664-A1F1-DE33F12F5A73}" type="datetime1">
              <a:rPr lang="de-DE" smtClean="0"/>
              <a:t>31.10.2020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C0A9B2-D064-47C5-9366-F2EA09B68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72B286-0CE6-4E2D-9140-184ACC5D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9601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E960A-2499-44E2-9534-D3B4E280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B8ADD5-0B77-4BA5-98DE-FA2073DAD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26F414-1EA9-46CE-9823-BFA9E41AB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9D4509-39B2-437D-AC27-D61B433B0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C2A9-D414-432F-B31F-E2D93BE9B090}" type="datetime1">
              <a:rPr lang="de-DE" smtClean="0"/>
              <a:t>31.10.2020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892418-4170-439B-8D27-560E895E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15C1CD-9226-41C8-A48A-07CD62AB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8636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F7710B-0FD8-431A-8D41-B4C60CCC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7DEC6F-624F-4DCB-ACB4-F396AD96D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C69829-1984-4EED-9A8D-F8174CA0A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A126FB-91AA-4B69-9949-D6DD56A29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AE6D73D-07A1-4A68-BB6B-9A0EE6536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D60478F-4B86-4BB2-8596-64526A25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C3FB4-FC8F-44C8-A5D0-3634274904AC}" type="datetime1">
              <a:rPr lang="de-DE" smtClean="0"/>
              <a:t>31.10.2020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905227F-46AA-41CE-BF87-B719FC7D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16CE8A1-6523-47FE-BBD4-73DBD7F4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636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4B2024-529F-44DC-ADB2-0F58F0A0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B728269-2505-4796-B664-CBC8B0A55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3EC35-0DBA-450B-9016-97A2A310D563}" type="datetime1">
              <a:rPr lang="de-DE" smtClean="0"/>
              <a:t>31.10.2020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B574E2-8690-48AB-9090-6F0A18905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150170-A5A3-42A1-8C9D-66E17D4C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52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98C8E3D-D4A2-4785-AA3B-8F57BDE8F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47C4-205E-4ED2-AE59-567760DBE91D}" type="datetime1">
              <a:rPr lang="de-DE" smtClean="0"/>
              <a:t>31.10.2020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DDFF441-D0B2-4DD3-982C-DDE79F4F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F3C547-5653-4CAB-9D2E-84757778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269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4E9DF-B83D-452A-B2EB-9AC1AE66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658BFB-5F17-4C91-AB76-C78F020A5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235C2F-5F91-453D-89B2-8BDA2FD96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940055-89D4-4DBE-9EE6-6B073F27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2123-C295-47DB-AD64-37C0F27CDB56}" type="datetime1">
              <a:rPr lang="de-DE" smtClean="0"/>
              <a:t>31.10.2020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FA9843-F552-4D58-84F4-CC7C7BC1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6EA452-8867-401C-9475-AD912C472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506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48A700-2439-42E9-A5E3-8BB2AD447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35B52EC-60F8-48B3-8B3D-D5AC14B1B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505568-C4E2-4E54-96E4-E27A41998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B32513-8856-4229-B866-2C23242B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59F65-9185-4C75-A160-78DE4921A1CE}" type="datetime1">
              <a:rPr lang="de-DE" smtClean="0"/>
              <a:t>31.10.2020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068B59-E514-4542-A1FA-17C3A1E6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78EC1E-6ADD-474B-B7FE-C35BEB4C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1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69A603-9691-4E85-A571-123AF366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69EB5C9-7F70-49ED-9983-18D5007F9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C7994F-CD7F-4CBA-BBBD-8880CE42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86C06-0FC1-4C6A-9EF3-414272C429F4}" type="datetime1">
              <a:rPr lang="de-DE" smtClean="0"/>
              <a:t>31.10.2020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9E5A63-3043-4C8F-9E8D-ACEDCC619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C8CC81-DF3C-4F48-86C4-AE6EB4B1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563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6E9C0A0-AD80-44D7-AFCB-82B37CA321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CCF23D-445F-49E2-AC33-2BD14A534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530BB9-AAC7-4856-9551-08618723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2927C-EBB5-4F40-9B70-7BD453A4F0C6}" type="datetime1">
              <a:rPr lang="de-DE" smtClean="0"/>
              <a:t>31.10.2020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8873AC-4135-461E-AE36-FEB6B49C9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F60E42-A264-4FE9-BB6A-FAFB0D8F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9489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D0AB7A2-BAAB-4336-A32C-4086704A9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196D9C-4321-4CBA-B782-6790DBF5F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499A4A-0DA4-42E5-AC78-0994FDECA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2A7A5-F193-4EAD-A271-70CE90AC37CA}" type="datetime1">
              <a:rPr lang="de-DE" smtClean="0"/>
              <a:t>31.10.2020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0DB357-E775-4D1B-AAD9-7A8858DA3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Strings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F1B6ED-2D3B-4D18-906F-EEC6C6C23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6049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8FB008-4555-4B0E-82D3-CAF6F0A2C5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Strings (5):</a:t>
            </a:r>
            <a:br>
              <a:rPr lang="de-DE"/>
            </a:br>
            <a:r>
              <a:rPr lang="de-DE"/>
              <a:t>Funktionen und Methoden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F3B51D7-4B61-446A-B634-2092A641F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FB23B18-5E12-45E1-AA5D-660BBB2C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2DE948-7F80-49C1-BFCF-53FF1A1B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1846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DF4B8-3516-4E28-92D7-14D72FFD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Funktionen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AEA8F9-4B09-4495-834C-52C66EC74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86C526-FF40-4606-B184-AB7E16281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EBAA74-EF31-4552-AD82-F38EDC91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7625" y="6372225"/>
            <a:ext cx="2743200" cy="365125"/>
          </a:xfrm>
        </p:spPr>
        <p:txBody>
          <a:bodyPr/>
          <a:lstStyle/>
          <a:p>
            <a:fld id="{A8A5A222-EE51-4391-9872-7528E614F55D}" type="slidenum">
              <a:rPr lang="de-DE" smtClean="0"/>
              <a:t>2</a:t>
            </a:fld>
            <a:endParaRPr lang="de-DE"/>
          </a:p>
        </p:txBody>
      </p:sp>
      <p:pic>
        <p:nvPicPr>
          <p:cNvPr id="1032" name="Picture 8" descr="Baum, Wald, Stamm, Natur, Blätter">
            <a:extLst>
              <a:ext uri="{FF2B5EF4-FFF2-40B4-BE49-F238E27FC236}">
                <a16:creationId xmlns:a16="http://schemas.microsoft.com/office/drawing/2014/main" id="{4E7564D1-3E3E-4E0B-B4D1-C568D177A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30" y="1762125"/>
            <a:ext cx="1781721" cy="192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Junge, Cartoon, Diagramm, Checkup">
            <a:extLst>
              <a:ext uri="{FF2B5EF4-FFF2-40B4-BE49-F238E27FC236}">
                <a16:creationId xmlns:a16="http://schemas.microsoft.com/office/drawing/2014/main" id="{E0FD66F9-1946-4FAD-835D-0CDDD6EF1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421" y="3960475"/>
            <a:ext cx="1076494" cy="215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FC387D0-1D88-4016-B41A-042378B4B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518" y="2897552"/>
            <a:ext cx="2598645" cy="1714649"/>
          </a:xfrm>
          <a:prstGeom prst="rect">
            <a:avLst/>
          </a:prstGeom>
        </p:spPr>
      </p:pic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C511501F-80D2-4D0E-BCB3-7BF8982808ED}"/>
              </a:ext>
            </a:extLst>
          </p:cNvPr>
          <p:cNvSpPr/>
          <p:nvPr/>
        </p:nvSpPr>
        <p:spPr>
          <a:xfrm rot="21143334">
            <a:off x="3309387" y="2809327"/>
            <a:ext cx="4781116" cy="72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wird angewendet auf</a:t>
            </a:r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283F15BD-AF23-4CF3-8FE9-844355D1219E}"/>
              </a:ext>
            </a:extLst>
          </p:cNvPr>
          <p:cNvSpPr/>
          <p:nvPr/>
        </p:nvSpPr>
        <p:spPr>
          <a:xfrm rot="455471">
            <a:off x="3203128" y="4522904"/>
            <a:ext cx="4804705" cy="72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wird angewendet auf</a:t>
            </a:r>
          </a:p>
        </p:txBody>
      </p:sp>
    </p:spTree>
    <p:extLst>
      <p:ext uri="{BB962C8B-B14F-4D97-AF65-F5344CB8AC3E}">
        <p14:creationId xmlns:p14="http://schemas.microsoft.com/office/powerpoint/2010/main" val="230320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7037E-6 L -0.37995 -3.7037E-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9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DF4B8-3516-4E28-92D7-14D72FFD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Methoden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AEA8F9-4B09-4495-834C-52C66EC74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86C526-FF40-4606-B184-AB7E16281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58912" y="7010977"/>
            <a:ext cx="470971" cy="92355"/>
          </a:xfrm>
        </p:spPr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EBAA74-EF31-4552-AD82-F38EDC91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7625" y="6372225"/>
            <a:ext cx="2743200" cy="365125"/>
          </a:xfrm>
        </p:spPr>
        <p:txBody>
          <a:bodyPr/>
          <a:lstStyle/>
          <a:p>
            <a:fld id="{A8A5A222-EE51-4391-9872-7528E614F55D}" type="slidenum">
              <a:rPr lang="de-DE" smtClean="0"/>
              <a:t>3</a:t>
            </a:fld>
            <a:endParaRPr lang="de-DE"/>
          </a:p>
        </p:txBody>
      </p:sp>
      <p:pic>
        <p:nvPicPr>
          <p:cNvPr id="1032" name="Picture 8" descr="Baum, Wald, Stamm, Natur, Blätter">
            <a:extLst>
              <a:ext uri="{FF2B5EF4-FFF2-40B4-BE49-F238E27FC236}">
                <a16:creationId xmlns:a16="http://schemas.microsoft.com/office/drawing/2014/main" id="{4E7564D1-3E3E-4E0B-B4D1-C568D177A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954" y="1778775"/>
            <a:ext cx="1781721" cy="192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Junge, Cartoon, Diagramm, Checkup">
            <a:extLst>
              <a:ext uri="{FF2B5EF4-FFF2-40B4-BE49-F238E27FC236}">
                <a16:creationId xmlns:a16="http://schemas.microsoft.com/office/drawing/2014/main" id="{E0FD66F9-1946-4FAD-835D-0CDDD6EF1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219" y="3995738"/>
            <a:ext cx="1076494" cy="215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eschäft, Cartoon, Comic, Comic-Figuren">
            <a:extLst>
              <a:ext uri="{FF2B5EF4-FFF2-40B4-BE49-F238E27FC236}">
                <a16:creationId xmlns:a16="http://schemas.microsoft.com/office/drawing/2014/main" id="{18977357-C261-4F81-8940-5060E6939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8607" y="3995738"/>
            <a:ext cx="1076494" cy="2152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0C775B6-EA35-4FE2-A134-F9FE283C4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662" y="2208324"/>
            <a:ext cx="1854384" cy="1463987"/>
          </a:xfrm>
          <a:prstGeom prst="rect">
            <a:avLst/>
          </a:prstGeom>
        </p:spPr>
      </p:pic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381FAFF7-7E9A-4511-AB1C-7B87605F9CA8}"/>
              </a:ext>
            </a:extLst>
          </p:cNvPr>
          <p:cNvSpPr/>
          <p:nvPr/>
        </p:nvSpPr>
        <p:spPr>
          <a:xfrm>
            <a:off x="3304227" y="2314799"/>
            <a:ext cx="3511088" cy="72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wird zerkleinert</a:t>
            </a:r>
          </a:p>
        </p:txBody>
      </p:sp>
      <p:sp>
        <p:nvSpPr>
          <p:cNvPr id="17" name="Pfeil: nach rechts 16">
            <a:extLst>
              <a:ext uri="{FF2B5EF4-FFF2-40B4-BE49-F238E27FC236}">
                <a16:creationId xmlns:a16="http://schemas.microsoft.com/office/drawing/2014/main" id="{6A8A68A3-F8DA-436D-9C44-BD10B6B46369}"/>
              </a:ext>
            </a:extLst>
          </p:cNvPr>
          <p:cNvSpPr/>
          <p:nvPr/>
        </p:nvSpPr>
        <p:spPr>
          <a:xfrm>
            <a:off x="3224714" y="4560417"/>
            <a:ext cx="3511088" cy="72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verliebt sich</a:t>
            </a:r>
          </a:p>
        </p:txBody>
      </p:sp>
      <p:sp>
        <p:nvSpPr>
          <p:cNvPr id="6" name="Pfeil: nach links und rechts 5">
            <a:extLst>
              <a:ext uri="{FF2B5EF4-FFF2-40B4-BE49-F238E27FC236}">
                <a16:creationId xmlns:a16="http://schemas.microsoft.com/office/drawing/2014/main" id="{A6CEFAB4-166D-4953-A948-29844AB43B10}"/>
              </a:ext>
            </a:extLst>
          </p:cNvPr>
          <p:cNvSpPr/>
          <p:nvPr/>
        </p:nvSpPr>
        <p:spPr>
          <a:xfrm>
            <a:off x="3982413" y="3098693"/>
            <a:ext cx="3432178" cy="56673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hat Zerkleiner-Mechanismus</a:t>
            </a:r>
          </a:p>
        </p:txBody>
      </p:sp>
      <p:sp>
        <p:nvSpPr>
          <p:cNvPr id="14" name="Pfeil: nach links und rechts 13">
            <a:extLst>
              <a:ext uri="{FF2B5EF4-FFF2-40B4-BE49-F238E27FC236}">
                <a16:creationId xmlns:a16="http://schemas.microsoft.com/office/drawing/2014/main" id="{F215240F-28C7-4890-9E30-755CA2C72855}"/>
              </a:ext>
            </a:extLst>
          </p:cNvPr>
          <p:cNvSpPr/>
          <p:nvPr/>
        </p:nvSpPr>
        <p:spPr>
          <a:xfrm>
            <a:off x="3982413" y="5358803"/>
            <a:ext cx="3432178" cy="56673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/>
              <a:t>hat Verliebe-Mechanismus</a:t>
            </a:r>
          </a:p>
        </p:txBody>
      </p:sp>
    </p:spTree>
    <p:extLst>
      <p:ext uri="{BB962C8B-B14F-4D97-AF65-F5344CB8AC3E}">
        <p14:creationId xmlns:p14="http://schemas.microsoft.com/office/powerpoint/2010/main" val="309348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4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90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7037E-6 L 0.23985 0.0016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92" y="6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4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900"/>
                            </p:stCondLst>
                            <p:childTnLst>
                              <p:par>
                                <p:cTn id="2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11111E-6 L 0.2267 -0.00116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28" y="-6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6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0C0CF2-6626-406C-B72B-897275E7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Funktionen vs. Methoden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8C0447-A4C9-450F-AB5D-A3D7CD5FB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b="1"/>
              <a:t>Funktionen</a:t>
            </a:r>
            <a:r>
              <a:rPr lang="de-DE"/>
              <a:t> wird etwas übergeben</a:t>
            </a:r>
          </a:p>
          <a:p>
            <a:pPr marL="0" indent="0">
              <a:buNone/>
            </a:pPr>
            <a:r>
              <a:rPr lang="de-DE"/>
              <a:t>Funktionen verarbeiten dann dieses Etwas</a:t>
            </a:r>
          </a:p>
          <a:p>
            <a:pPr marL="0" indent="0">
              <a:buNone/>
            </a:pPr>
            <a:r>
              <a:rPr lang="de-DE"/>
              <a:t>Python macht etwas mit z.B. einem String, mißt dessen Länge</a:t>
            </a:r>
          </a:p>
          <a:p>
            <a:pPr marL="0" indent="0">
              <a:buNone/>
            </a:pPr>
            <a:r>
              <a:rPr lang="de-DE"/>
              <a:t>&lt;=&gt; Python ist für Ausführung verantwortlich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 b="1"/>
              <a:t>Methoden</a:t>
            </a:r>
            <a:r>
              <a:rPr lang="de-DE"/>
              <a:t> sind Bestandteile von etwas (z.B. ein string)</a:t>
            </a:r>
          </a:p>
          <a:p>
            <a:pPr marL="0" indent="0">
              <a:buNone/>
            </a:pPr>
            <a:r>
              <a:rPr lang="de-DE"/>
              <a:t>Dieses Etwas (z.B. ein String) führt dann die Methode aus</a:t>
            </a:r>
          </a:p>
          <a:p>
            <a:pPr marL="0" indent="0">
              <a:buNone/>
            </a:pPr>
            <a:r>
              <a:rPr lang="de-DE"/>
              <a:t>Ein String macht etwas mit sich</a:t>
            </a:r>
          </a:p>
          <a:p>
            <a:pPr marL="0" indent="0">
              <a:buNone/>
            </a:pPr>
            <a:r>
              <a:rPr lang="de-DE"/>
              <a:t>&lt;=&gt; String ist für die Ausführung verantwortlich</a:t>
            </a: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33F12F-28F9-4F21-9327-2D483A2DC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DBA1907-354D-436C-AEBC-1ED67368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587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DF4B8-3516-4E28-92D7-14D72FFD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Funktionen vs. Methoden - Syntax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AEA8F9-4B09-4495-834C-52C66EC74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Funktionen wird in Klammern der Wert übergeben</a:t>
            </a:r>
          </a:p>
          <a:p>
            <a:pPr marL="0" indent="0">
              <a:buNone/>
            </a:pPr>
            <a:r>
              <a:rPr lang="de-DE"/>
              <a:t>z.B. len(s)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Methoden werden mit . an den Wert angehängt</a:t>
            </a:r>
          </a:p>
          <a:p>
            <a:pPr marL="0" indent="0">
              <a:buNone/>
            </a:pPr>
            <a:r>
              <a:rPr lang="de-DE"/>
              <a:t>(in) Klammern (werden u.U. weitere Parameter übergeben)</a:t>
            </a:r>
          </a:p>
          <a:p>
            <a:pPr marL="0" indent="0">
              <a:buNone/>
            </a:pPr>
            <a:r>
              <a:rPr lang="de-DE"/>
              <a:t>z.B. s.upper()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86C526-FF40-4606-B184-AB7E16281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EBAA74-EF31-4552-AD82-F38EDC91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776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84D598-782C-46B6-85B5-CEF194BD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String-Methoden (Gruppen)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823E1A-6261-48BB-AFAB-0690B46F3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/>
              <a:t>Es gibt Methoden für das</a:t>
            </a:r>
          </a:p>
          <a:p>
            <a:r>
              <a:rPr lang="de-DE"/>
              <a:t>Suchen</a:t>
            </a:r>
          </a:p>
          <a:p>
            <a:r>
              <a:rPr lang="de-DE"/>
              <a:t>Umwandeln</a:t>
            </a:r>
          </a:p>
          <a:p>
            <a:r>
              <a:rPr lang="de-DE"/>
              <a:t>Entfernen</a:t>
            </a:r>
          </a:p>
          <a:p>
            <a:r>
              <a:rPr lang="de-DE"/>
              <a:t>Ausrichten</a:t>
            </a:r>
          </a:p>
          <a:p>
            <a:r>
              <a:rPr lang="de-DE"/>
              <a:t>Prüfen</a:t>
            </a:r>
          </a:p>
          <a:p>
            <a:r>
              <a:rPr lang="de-DE"/>
              <a:t>Auffüllen</a:t>
            </a: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3F2714B-92F9-426A-8A49-6E71AEF8B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Strings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459B0F-8391-4559-97A4-A7B976A0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267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Breitbild</PresentationFormat>
  <Paragraphs>46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Strings (5): Funktionen und Methoden</vt:lpstr>
      <vt:lpstr>Funktionen</vt:lpstr>
      <vt:lpstr>Methoden</vt:lpstr>
      <vt:lpstr>Funktionen vs. Methoden</vt:lpstr>
      <vt:lpstr>Funktionen vs. Methoden - Syntax</vt:lpstr>
      <vt:lpstr>String-Methoden (Gruppen)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PLinq</dc:title>
  <dc:creator>Dirk Laschet</dc:creator>
  <cp:lastModifiedBy>Dirk Laschet</cp:lastModifiedBy>
  <cp:revision>161</cp:revision>
  <dcterms:created xsi:type="dcterms:W3CDTF">2019-09-03T12:55:23Z</dcterms:created>
  <dcterms:modified xsi:type="dcterms:W3CDTF">2020-10-31T07:53:47Z</dcterms:modified>
</cp:coreProperties>
</file>