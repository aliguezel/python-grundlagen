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77" r:id="rId2"/>
    <p:sldId id="379" r:id="rId3"/>
    <p:sldId id="380" r:id="rId4"/>
    <p:sldId id="271" r:id="rId5"/>
    <p:sldId id="332" r:id="rId6"/>
    <p:sldId id="339" r:id="rId7"/>
    <p:sldId id="331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40" r:id="rId16"/>
    <p:sldId id="337" r:id="rId17"/>
    <p:sldId id="338" r:id="rId18"/>
    <p:sldId id="344" r:id="rId19"/>
    <p:sldId id="345" r:id="rId20"/>
    <p:sldId id="346" r:id="rId21"/>
    <p:sldId id="351" r:id="rId22"/>
    <p:sldId id="352" r:id="rId23"/>
    <p:sldId id="353" r:id="rId24"/>
    <p:sldId id="354" r:id="rId25"/>
    <p:sldId id="357" r:id="rId26"/>
    <p:sldId id="355" r:id="rId27"/>
    <p:sldId id="356" r:id="rId28"/>
    <p:sldId id="358" r:id="rId29"/>
    <p:sldId id="347" r:id="rId30"/>
    <p:sldId id="348" r:id="rId31"/>
    <p:sldId id="349" r:id="rId32"/>
    <p:sldId id="350" r:id="rId33"/>
    <p:sldId id="381" r:id="rId34"/>
    <p:sldId id="361" r:id="rId35"/>
    <p:sldId id="378" r:id="rId3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rk Laschet" initials="DL" lastIdx="1" clrIdx="0">
    <p:extLst>
      <p:ext uri="{19B8F6BF-5375-455C-9EA6-DF929625EA0E}">
        <p15:presenceInfo xmlns:p15="http://schemas.microsoft.com/office/powerpoint/2012/main" userId="b8bbcb430da5cfc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79" d="100"/>
          <a:sy n="79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451F6-7A18-438F-9E8B-D42034ACC809}" type="datetimeFigureOut">
              <a:rPr lang="de-DE" smtClean="0"/>
              <a:t>26.05.2020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F9F0A-2960-43F0-9ACB-8D7CF93E353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64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B8EC45-4F25-416F-8787-2870BEE8A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522FAED-008F-465E-8F79-5ED78D995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337E27-B85C-414A-8B9C-987E4D3E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3FA3B-DD87-4F0F-B427-80F25DB75CD4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AF7560-ADEF-43B1-919D-5DDDBCE6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E2D5DD-31D2-498C-A350-32641ADB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Logo.bmp">
            <a:extLst>
              <a:ext uri="{FF2B5EF4-FFF2-40B4-BE49-F238E27FC236}">
                <a16:creationId xmlns:a16="http://schemas.microsoft.com/office/drawing/2014/main" id="{2833EE79-2FB7-415C-806B-64D0FD955B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24616" y="268648"/>
            <a:ext cx="2257425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8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B63192-725A-487D-8C86-4ABE399B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60C03A-3477-4092-9920-36DA1B3C5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89E881-F3A1-43C6-9D9E-8373EE1E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81B68-778F-496B-9C83-893C0D535B62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88A518-B7A4-4E58-9064-622FA82D5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B48506-E09B-403E-A3F0-A63151FD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Logo.bmp">
            <a:extLst>
              <a:ext uri="{FF2B5EF4-FFF2-40B4-BE49-F238E27FC236}">
                <a16:creationId xmlns:a16="http://schemas.microsoft.com/office/drawing/2014/main" id="{46103F6A-8708-44AB-8D9F-F1CC31D7BD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24616" y="268648"/>
            <a:ext cx="2257425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4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F3E59D-82DA-4F02-8578-BD6D7F35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26E861-4E96-452B-9BF3-9E1CEB46E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6B63D0-6425-435B-AC9D-28AEADFC2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FD8C1-4E45-46E3-9A9D-A815C3215317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C0A9B2-D064-47C5-9366-F2EA09B68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72B286-0CE6-4E2D-9140-184ACC5D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60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E960A-2499-44E2-9534-D3B4E280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B8ADD5-0B77-4BA5-98DE-FA2073DAD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26F414-1EA9-46CE-9823-BFA9E41AB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9D4509-39B2-437D-AC27-D61B433B0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77C25-A4A0-42D6-BD9B-9A240B4624EB}" type="datetime1">
              <a:rPr lang="de-DE" smtClean="0"/>
              <a:t>26.05.2020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892418-4170-439B-8D27-560E895E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15C1CD-9226-41C8-A48A-07CD62AB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8636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F7710B-0FD8-431A-8D41-B4C60CCC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7DEC6F-624F-4DCB-ACB4-F396AD96D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C69829-1984-4EED-9A8D-F8174CA0A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A126FB-91AA-4B69-9949-D6DD56A29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AE6D73D-07A1-4A68-BB6B-9A0EE6536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D60478F-4B86-4BB2-8596-64526A25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B5599-6B4A-4DFC-A7F5-522FF3496140}" type="datetime1">
              <a:rPr lang="de-DE" smtClean="0"/>
              <a:t>26.05.2020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905227F-46AA-41CE-BF87-B719FC7D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16CE8A1-6523-47FE-BBD4-73DBD7F4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63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4B2024-529F-44DC-ADB2-0F58F0A0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B728269-2505-4796-B664-CBC8B0A55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978DD-18DB-449B-BABD-149AB6679793}" type="datetime1">
              <a:rPr lang="de-DE" smtClean="0"/>
              <a:t>26.05.2020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B574E2-8690-48AB-9090-6F0A1890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150170-A5A3-42A1-8C9D-66E17D4C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52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98C8E3D-D4A2-4785-AA3B-8F57BDE8F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385C6-D204-42B9-B79A-528864D028C8}" type="datetime1">
              <a:rPr lang="de-DE" smtClean="0"/>
              <a:t>26.05.2020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DFF441-D0B2-4DD3-982C-DDE79F4F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F3C547-5653-4CAB-9D2E-84757778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269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4E9DF-B83D-452A-B2EB-9AC1AE66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658BFB-5F17-4C91-AB76-C78F020A5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235C2F-5F91-453D-89B2-8BDA2FD96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940055-89D4-4DBE-9EE6-6B073F27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D38-E962-4825-82ED-33F0BA6CC5E1}" type="datetime1">
              <a:rPr lang="de-DE" smtClean="0"/>
              <a:t>26.05.2020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FA9843-F552-4D58-84F4-CC7C7BC1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6EA452-8867-401C-9475-AD912C472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50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48A700-2439-42E9-A5E3-8BB2AD447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35B52EC-60F8-48B3-8B3D-D5AC14B1B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505568-C4E2-4E54-96E4-E27A41998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B32513-8856-4229-B866-2C23242B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19B4-6217-4322-9F00-15B902AEEE51}" type="datetime1">
              <a:rPr lang="de-DE" smtClean="0"/>
              <a:t>26.05.2020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068B59-E514-4542-A1FA-17C3A1E6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78EC1E-6ADD-474B-B7FE-C35BEB4C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1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9A603-9691-4E85-A571-123AF366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69EB5C9-7F70-49ED-9983-18D5007F9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C7994F-CD7F-4CBA-BBBD-8880CE42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65F9-20C0-49EB-8233-24FD411188CD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9E5A63-3043-4C8F-9E8D-ACEDCC619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C8CC81-DF3C-4F48-86C4-AE6EB4B1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563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6E9C0A0-AD80-44D7-AFCB-82B37CA321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CCF23D-445F-49E2-AC33-2BD14A534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30BB9-AAC7-4856-9551-08618723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DEC1-DA82-41E2-87CC-4CC7733125DA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8873AC-4135-461E-AE36-FEB6B49C9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F60E42-A264-4FE9-BB6A-FAFB0D8F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948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D0AB7A2-BAAB-4336-A32C-4086704A9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196D9C-4321-4CBA-B782-6790DBF5F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499A4A-0DA4-42E5-AC78-0994FDECA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0626B-A1B2-4895-BA31-01383DCCF764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0DB357-E775-4D1B-AAD9-7A8858DA3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F1B6ED-2D3B-4D18-906F-EEC6C6C23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6049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F6A45-EA8E-4B88-BDEF-A737141F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2003E4-4BBF-46AF-9B01-C5F26CE1B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Python interaktiv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Algorithmen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Verflixte Sieben als Problemstellung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Instruktionen bündeln</a:t>
            </a:r>
          </a:p>
          <a:p>
            <a:pPr marL="360363" indent="-360363"/>
            <a:r>
              <a:rPr lang="de-DE">
                <a:solidFill>
                  <a:schemeClr val="bg2">
                    <a:lumMod val="75000"/>
                  </a:schemeClr>
                </a:solidFill>
              </a:rPr>
              <a:t>Grundelemente der Programmierung</a:t>
            </a:r>
          </a:p>
          <a:p>
            <a:pPr marL="719138" lvl="1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Variablen</a:t>
            </a:r>
          </a:p>
          <a:p>
            <a:pPr marL="719138" lvl="1" indent="-360363"/>
            <a:r>
              <a:rPr lang="de-DE"/>
              <a:t>bedingte Anweisungen</a:t>
            </a:r>
          </a:p>
          <a:p>
            <a:pPr marL="719138" lvl="1" indent="-360363"/>
            <a:r>
              <a:rPr lang="de-DE">
                <a:solidFill>
                  <a:schemeClr val="bg2">
                    <a:lumMod val="75000"/>
                  </a:schemeClr>
                </a:solidFill>
              </a:rPr>
              <a:t>Schleifen</a:t>
            </a:r>
          </a:p>
          <a:p>
            <a:pPr marL="360363" indent="-360363"/>
            <a:r>
              <a:rPr lang="de-DE">
                <a:solidFill>
                  <a:schemeClr val="bg2">
                    <a:lumMod val="75000"/>
                  </a:schemeClr>
                </a:solidFill>
              </a:rPr>
              <a:t>Lösung verflixte Sieben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DFD074-9DA2-48A1-AE83-EEB62B2F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1F914A-9346-428F-BEB8-582F21A0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739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CB9D6-0EE8-4DD4-ADC8-FF4608B4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Anweisungen: Problemstellung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A2C6D0-10A6-4D20-BBD3-31B294084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CC02A2-98DB-47DB-A2B1-9CA7E1A10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BFE1B2-507C-4B5C-978B-19EB0488B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8A9C266-AF49-49D9-94C4-F3D733E09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921" y="1695300"/>
            <a:ext cx="3894157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64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CB9D6-0EE8-4DD4-ADC8-FF4608B4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Anweisungen: Problemstellung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A2C6D0-10A6-4D20-BBD3-31B294084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CC02A2-98DB-47DB-A2B1-9CA7E1A10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BFE1B2-507C-4B5C-978B-19EB0488B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3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22BB81C-FCF1-44B2-9641-D9815A35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921" y="1695300"/>
            <a:ext cx="3894157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1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AE0E63-F716-4AA5-B711-30C9D1C51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im Alltag</a:t>
            </a:r>
          </a:p>
          <a:p>
            <a:pPr marL="0" indent="0">
              <a:buNone/>
            </a:pPr>
            <a:endParaRPr lang="de-DE"/>
          </a:p>
          <a:p>
            <a:pPr marL="0" indent="0" algn="ctr">
              <a:buNone/>
            </a:pPr>
            <a:r>
              <a:rPr lang="de-DE" sz="2400"/>
              <a:t>eine Aktion wird nur ausgeführt, wenn eine bestimmte Bedingung erfüllt ist</a:t>
            </a:r>
          </a:p>
          <a:p>
            <a:pPr marL="0" indent="0">
              <a:buNone/>
            </a:pP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748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AE0E63-F716-4AA5-B711-30C9D1C51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sz="2400"/>
              <a:t>eine Aktion wird nur ausgeführt, wenn eine bestimmte Bedingung erfüllt ist</a:t>
            </a:r>
          </a:p>
          <a:p>
            <a:pPr marL="0" indent="0">
              <a:buNone/>
            </a:pPr>
            <a:endParaRPr lang="de-DE"/>
          </a:p>
          <a:p>
            <a:pPr marL="0" indent="0" algn="ctr">
              <a:buNone/>
            </a:pPr>
            <a:r>
              <a:rPr lang="de-DE"/>
              <a:t>Ich spanne den Schirm auf, wenn es regnet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74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AE0E63-F716-4AA5-B711-30C9D1C51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400"/>
              <a:t>eine Aktion wird nur ausgeführt, wenn eine Bedingung erfüllt ist</a:t>
            </a:r>
          </a:p>
          <a:p>
            <a:pPr marL="0" indent="0">
              <a:buNone/>
            </a:pPr>
            <a:endParaRPr lang="de-DE"/>
          </a:p>
          <a:p>
            <a:pPr marL="0" indent="0" algn="ctr">
              <a:buNone/>
            </a:pPr>
            <a:endParaRPr lang="de-DE"/>
          </a:p>
          <a:p>
            <a:pPr marL="0" indent="0" algn="ctr">
              <a:buNone/>
            </a:pPr>
            <a:r>
              <a:rPr lang="de-DE"/>
              <a:t>Ich spanne ich den Schirm auf, wenn es regnet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 sz="2000"/>
              <a:t>Einleitung einer bedingten Aktion durch WENN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6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3EE1761-4FA6-4D30-BD3E-42F6724198C6}"/>
              </a:ext>
            </a:extLst>
          </p:cNvPr>
          <p:cNvSpPr/>
          <p:nvPr/>
        </p:nvSpPr>
        <p:spPr>
          <a:xfrm>
            <a:off x="7114506" y="3293899"/>
            <a:ext cx="2429343" cy="559142"/>
          </a:xfrm>
          <a:prstGeom prst="rect">
            <a:avLst/>
          </a:prstGeom>
          <a:solidFill>
            <a:schemeClr val="accent4">
              <a:lumMod val="40000"/>
              <a:lumOff val="60000"/>
              <a:alpha val="33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Legende: mit Pfeil nach unten 7">
            <a:extLst>
              <a:ext uri="{FF2B5EF4-FFF2-40B4-BE49-F238E27FC236}">
                <a16:creationId xmlns:a16="http://schemas.microsoft.com/office/drawing/2014/main" id="{E068D391-F4FE-4062-BC20-F63039CDE67E}"/>
              </a:ext>
            </a:extLst>
          </p:cNvPr>
          <p:cNvSpPr/>
          <p:nvPr/>
        </p:nvSpPr>
        <p:spPr>
          <a:xfrm>
            <a:off x="7316830" y="2470826"/>
            <a:ext cx="1828800" cy="958174"/>
          </a:xfrm>
          <a:prstGeom prst="downArrow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Bedingung</a:t>
            </a:r>
          </a:p>
        </p:txBody>
      </p:sp>
    </p:spTree>
    <p:extLst>
      <p:ext uri="{BB962C8B-B14F-4D97-AF65-F5344CB8AC3E}">
        <p14:creationId xmlns:p14="http://schemas.microsoft.com/office/powerpoint/2010/main" val="2141219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AE0E63-F716-4AA5-B711-30C9D1C51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Bedingungen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Ich spanne den Schirm auf, wenn es regnet</a:t>
            </a:r>
          </a:p>
          <a:p>
            <a:pPr marL="0" indent="0">
              <a:buNone/>
            </a:pPr>
            <a:r>
              <a:rPr lang="de-DE"/>
              <a:t>Ich nehme einen Schal, wenn es kälter als 0 Grad ist</a:t>
            </a:r>
          </a:p>
          <a:p>
            <a:pPr marL="0" indent="0">
              <a:buNone/>
            </a:pPr>
            <a:r>
              <a:rPr lang="de-DE"/>
              <a:t>Ich verkaufe die Aktie, wenn der Kurs 200 Euro oder noch mehr beträgt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242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graphicFrame>
        <p:nvGraphicFramePr>
          <p:cNvPr id="6" name="Tabelle 6">
            <a:extLst>
              <a:ext uri="{FF2B5EF4-FFF2-40B4-BE49-F238E27FC236}">
                <a16:creationId xmlns:a16="http://schemas.microsoft.com/office/drawing/2014/main" id="{78729CA7-3475-495E-9013-5916E82DA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4927099"/>
              </p:ext>
            </p:extLst>
          </p:nvPr>
        </p:nvGraphicFramePr>
        <p:xfrm>
          <a:off x="838200" y="377115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655">
                  <a:extLst>
                    <a:ext uri="{9D8B030D-6E8A-4147-A177-3AD203B41FA5}">
                      <a16:colId xmlns:a16="http://schemas.microsoft.com/office/drawing/2014/main" val="611958287"/>
                    </a:ext>
                  </a:extLst>
                </a:gridCol>
                <a:gridCol w="2957209">
                  <a:extLst>
                    <a:ext uri="{9D8B030D-6E8A-4147-A177-3AD203B41FA5}">
                      <a16:colId xmlns:a16="http://schemas.microsoft.com/office/drawing/2014/main" val="1802734080"/>
                    </a:ext>
                  </a:extLst>
                </a:gridCol>
                <a:gridCol w="2003898">
                  <a:extLst>
                    <a:ext uri="{9D8B030D-6E8A-4147-A177-3AD203B41FA5}">
                      <a16:colId xmlns:a16="http://schemas.microsoft.com/office/drawing/2014/main" val="3273492047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651436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916240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608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wenn es regnet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02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17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177817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8</a:t>
            </a:fld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C9B2667-1835-42C0-9120-3AF7965D8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4833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Ich spanne den Schirm auf, wenn es regnet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nehme einen Schal, wenn es kälter als 0 Grad ist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verkaufe die Aktie, wenn der Kurs 200 Euro oder noch mehr beträgt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8975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graphicFrame>
        <p:nvGraphicFramePr>
          <p:cNvPr id="6" name="Tabelle 6">
            <a:extLst>
              <a:ext uri="{FF2B5EF4-FFF2-40B4-BE49-F238E27FC236}">
                <a16:creationId xmlns:a16="http://schemas.microsoft.com/office/drawing/2014/main" id="{78729CA7-3475-495E-9013-5916E82DA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2513617"/>
              </p:ext>
            </p:extLst>
          </p:nvPr>
        </p:nvGraphicFramePr>
        <p:xfrm>
          <a:off x="838200" y="377115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655">
                  <a:extLst>
                    <a:ext uri="{9D8B030D-6E8A-4147-A177-3AD203B41FA5}">
                      <a16:colId xmlns:a16="http://schemas.microsoft.com/office/drawing/2014/main" val="611958287"/>
                    </a:ext>
                  </a:extLst>
                </a:gridCol>
                <a:gridCol w="2957209">
                  <a:extLst>
                    <a:ext uri="{9D8B030D-6E8A-4147-A177-3AD203B41FA5}">
                      <a16:colId xmlns:a16="http://schemas.microsoft.com/office/drawing/2014/main" val="1802734080"/>
                    </a:ext>
                  </a:extLst>
                </a:gridCol>
                <a:gridCol w="2003898">
                  <a:extLst>
                    <a:ext uri="{9D8B030D-6E8A-4147-A177-3AD203B41FA5}">
                      <a16:colId xmlns:a16="http://schemas.microsoft.com/office/drawing/2014/main" val="3273492047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651436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916240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608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wenn es regnet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Wetter ist regnerisch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02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17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177817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9</a:t>
            </a:fld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C9B2667-1835-42C0-9120-3AF7965D8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4833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Ich spanne den Schirm auf, wenn es regnet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nehme einen Schal, wenn es kälter als 0 Grad ist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verkaufe die Aktie, wenn der Kurs 200 Euro oder noch mehr beträgt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9059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graphicFrame>
        <p:nvGraphicFramePr>
          <p:cNvPr id="6" name="Tabelle 6">
            <a:extLst>
              <a:ext uri="{FF2B5EF4-FFF2-40B4-BE49-F238E27FC236}">
                <a16:creationId xmlns:a16="http://schemas.microsoft.com/office/drawing/2014/main" id="{78729CA7-3475-495E-9013-5916E82DA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314090"/>
              </p:ext>
            </p:extLst>
          </p:nvPr>
        </p:nvGraphicFramePr>
        <p:xfrm>
          <a:off x="838200" y="377115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655">
                  <a:extLst>
                    <a:ext uri="{9D8B030D-6E8A-4147-A177-3AD203B41FA5}">
                      <a16:colId xmlns:a16="http://schemas.microsoft.com/office/drawing/2014/main" val="611958287"/>
                    </a:ext>
                  </a:extLst>
                </a:gridCol>
                <a:gridCol w="2957209">
                  <a:extLst>
                    <a:ext uri="{9D8B030D-6E8A-4147-A177-3AD203B41FA5}">
                      <a16:colId xmlns:a16="http://schemas.microsoft.com/office/drawing/2014/main" val="1802734080"/>
                    </a:ext>
                  </a:extLst>
                </a:gridCol>
                <a:gridCol w="2003898">
                  <a:extLst>
                    <a:ext uri="{9D8B030D-6E8A-4147-A177-3AD203B41FA5}">
                      <a16:colId xmlns:a16="http://schemas.microsoft.com/office/drawing/2014/main" val="3273492047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651436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916240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608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wenn es regnet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Wetter ist regnerisch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Wetter = Regen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02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17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177817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10</a:t>
            </a:fld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C9B2667-1835-42C0-9120-3AF7965D8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4833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Ich spanne den Schirm auf, wenn es regnet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nehme einen Schal, wenn es kälter als 0 Grad ist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verkaufe die Aktie, wenn der Kurs 200 Euro oder noch mehr beträgt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8677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graphicFrame>
        <p:nvGraphicFramePr>
          <p:cNvPr id="6" name="Tabelle 6">
            <a:extLst>
              <a:ext uri="{FF2B5EF4-FFF2-40B4-BE49-F238E27FC236}">
                <a16:creationId xmlns:a16="http://schemas.microsoft.com/office/drawing/2014/main" id="{78729CA7-3475-495E-9013-5916E82DA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610365"/>
              </p:ext>
            </p:extLst>
          </p:nvPr>
        </p:nvGraphicFramePr>
        <p:xfrm>
          <a:off x="838200" y="377115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655">
                  <a:extLst>
                    <a:ext uri="{9D8B030D-6E8A-4147-A177-3AD203B41FA5}">
                      <a16:colId xmlns:a16="http://schemas.microsoft.com/office/drawing/2014/main" val="611958287"/>
                    </a:ext>
                  </a:extLst>
                </a:gridCol>
                <a:gridCol w="2957209">
                  <a:extLst>
                    <a:ext uri="{9D8B030D-6E8A-4147-A177-3AD203B41FA5}">
                      <a16:colId xmlns:a16="http://schemas.microsoft.com/office/drawing/2014/main" val="1802734080"/>
                    </a:ext>
                  </a:extLst>
                </a:gridCol>
                <a:gridCol w="2003898">
                  <a:extLst>
                    <a:ext uri="{9D8B030D-6E8A-4147-A177-3AD203B41FA5}">
                      <a16:colId xmlns:a16="http://schemas.microsoft.com/office/drawing/2014/main" val="3273492047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651436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916240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608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wenn es regnet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Wetter ist regnerisch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Wetter = Regen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==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02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17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177817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11</a:t>
            </a:fld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C9B2667-1835-42C0-9120-3AF7965D8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4833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Ich spanne den Schirm auf, wenn es regnet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nehme einen Schal, wenn es kälter als 0 Grad ist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verkaufe die Aktie, wenn der Kurs 200 Euro oder noch mehr beträgt </a:t>
            </a:r>
          </a:p>
        </p:txBody>
      </p:sp>
    </p:spTree>
    <p:extLst>
      <p:ext uri="{BB962C8B-B14F-4D97-AF65-F5344CB8AC3E}">
        <p14:creationId xmlns:p14="http://schemas.microsoft.com/office/powerpoint/2010/main" val="1288868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graphicFrame>
        <p:nvGraphicFramePr>
          <p:cNvPr id="6" name="Tabelle 6">
            <a:extLst>
              <a:ext uri="{FF2B5EF4-FFF2-40B4-BE49-F238E27FC236}">
                <a16:creationId xmlns:a16="http://schemas.microsoft.com/office/drawing/2014/main" id="{78729CA7-3475-495E-9013-5916E82DA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893748"/>
              </p:ext>
            </p:extLst>
          </p:nvPr>
        </p:nvGraphicFramePr>
        <p:xfrm>
          <a:off x="838200" y="377115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655">
                  <a:extLst>
                    <a:ext uri="{9D8B030D-6E8A-4147-A177-3AD203B41FA5}">
                      <a16:colId xmlns:a16="http://schemas.microsoft.com/office/drawing/2014/main" val="611958287"/>
                    </a:ext>
                  </a:extLst>
                </a:gridCol>
                <a:gridCol w="2957209">
                  <a:extLst>
                    <a:ext uri="{9D8B030D-6E8A-4147-A177-3AD203B41FA5}">
                      <a16:colId xmlns:a16="http://schemas.microsoft.com/office/drawing/2014/main" val="1802734080"/>
                    </a:ext>
                  </a:extLst>
                </a:gridCol>
                <a:gridCol w="2003898">
                  <a:extLst>
                    <a:ext uri="{9D8B030D-6E8A-4147-A177-3AD203B41FA5}">
                      <a16:colId xmlns:a16="http://schemas.microsoft.com/office/drawing/2014/main" val="3273492047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651436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916240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608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wenn es regnet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Wetter ist regnerisch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Wetter = Regen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==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02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kälter als 0 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Temperatur kleiner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Temperatur &lt;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kleiner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&lt;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17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177817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12</a:t>
            </a:fld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C9B2667-1835-42C0-9120-3AF7965D8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4833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spanne den Schirm auf, wenn es regnet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Ich nehme einen Schal, wenn es kälter als 0 Grad ist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verkaufe die Aktie, wenn der Kurs 200 Euro oder noch mehr beträgt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2187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graphicFrame>
        <p:nvGraphicFramePr>
          <p:cNvPr id="6" name="Tabelle 6">
            <a:extLst>
              <a:ext uri="{FF2B5EF4-FFF2-40B4-BE49-F238E27FC236}">
                <a16:creationId xmlns:a16="http://schemas.microsoft.com/office/drawing/2014/main" id="{78729CA7-3475-495E-9013-5916E82DA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322321"/>
              </p:ext>
            </p:extLst>
          </p:nvPr>
        </p:nvGraphicFramePr>
        <p:xfrm>
          <a:off x="838200" y="377115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655">
                  <a:extLst>
                    <a:ext uri="{9D8B030D-6E8A-4147-A177-3AD203B41FA5}">
                      <a16:colId xmlns:a16="http://schemas.microsoft.com/office/drawing/2014/main" val="611958287"/>
                    </a:ext>
                  </a:extLst>
                </a:gridCol>
                <a:gridCol w="2957209">
                  <a:extLst>
                    <a:ext uri="{9D8B030D-6E8A-4147-A177-3AD203B41FA5}">
                      <a16:colId xmlns:a16="http://schemas.microsoft.com/office/drawing/2014/main" val="1802734080"/>
                    </a:ext>
                  </a:extLst>
                </a:gridCol>
                <a:gridCol w="2003898">
                  <a:extLst>
                    <a:ext uri="{9D8B030D-6E8A-4147-A177-3AD203B41FA5}">
                      <a16:colId xmlns:a16="http://schemas.microsoft.com/office/drawing/2014/main" val="3273492047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651436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916240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608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wenn es regnet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Wetter ist regnerisch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Wetter = Regen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==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02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kälter als 0 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Temperatur kleiner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Temperatur &lt;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kleiner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&lt;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175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Kurs 200€ oder mehr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Kurs gleich oder höher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Kurs 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größer 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&gt;=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177817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13</a:t>
            </a:fld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C9B2667-1835-42C0-9120-3AF7965D8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4833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spanne den Schirm auf, wenn es regnet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Ich nehme einen Schal, wenn es kälter als 0 Grad ist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Ich verkaufe die Aktie, wenn der Kurs 200 Euro oder noch mehr beträgt </a:t>
            </a:r>
          </a:p>
        </p:txBody>
      </p:sp>
    </p:spTree>
    <p:extLst>
      <p:ext uri="{BB962C8B-B14F-4D97-AF65-F5344CB8AC3E}">
        <p14:creationId xmlns:p14="http://schemas.microsoft.com/office/powerpoint/2010/main" val="1455889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BED95-E565-49D5-A17A-15EFEF3F0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C4405A-F3FA-4EBE-8E0A-9FE46B0BE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/>
              <a:t>alle Bedingungen basieren auf Vergleichen</a:t>
            </a:r>
          </a:p>
          <a:p>
            <a:r>
              <a:rPr lang="de-DE"/>
              <a:t>Vergleiche verwenden (Vergleichs-) Operatoren</a:t>
            </a:r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pPr marL="342900" indent="-342900">
              <a:buAutoNum type="arabicParenBoth"/>
            </a:pPr>
            <a:r>
              <a:rPr lang="de-DE" sz="1400"/>
              <a:t>== in Abgrenzung zu =                       </a:t>
            </a:r>
          </a:p>
          <a:p>
            <a:pPr marL="342900" indent="-342900">
              <a:buAutoNum type="arabicParenBoth"/>
            </a:pPr>
            <a:r>
              <a:rPr lang="de-DE" sz="1400"/>
              <a:t>!= und nicht &lt;&gt; o.ä.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EDC442-7931-44CC-AC38-238680B7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D03E30-E23A-4244-9C8D-16A3E92E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14</a:t>
            </a:fld>
            <a:endParaRPr lang="de-DE"/>
          </a:p>
        </p:txBody>
      </p:sp>
      <p:graphicFrame>
        <p:nvGraphicFramePr>
          <p:cNvPr id="6" name="Tabelle 6">
            <a:extLst>
              <a:ext uri="{FF2B5EF4-FFF2-40B4-BE49-F238E27FC236}">
                <a16:creationId xmlns:a16="http://schemas.microsoft.com/office/drawing/2014/main" id="{DBC8B3E8-55D9-45A1-B5BE-7037F7BFA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962304"/>
              </p:ext>
            </p:extLst>
          </p:nvPr>
        </p:nvGraphicFramePr>
        <p:xfrm>
          <a:off x="2032000" y="2811114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1347520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83208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Bedeutung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Operator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58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==</a:t>
                      </a:r>
                      <a:r>
                        <a:rPr lang="de-DE" baseline="300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516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ungleich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!=</a:t>
                      </a:r>
                      <a:r>
                        <a:rPr lang="de-DE" baseline="300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13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größer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00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größer 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&gt;=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060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kleiner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&lt;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460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kleiner 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&lt;=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17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219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AE0E63-F716-4AA5-B711-30C9D1C51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400"/>
              <a:t>eine Aktion wird nur ausgeführt, wenn eine Bedingung erfüllt ist</a:t>
            </a:r>
          </a:p>
          <a:p>
            <a:pPr marL="0" indent="0">
              <a:buNone/>
            </a:pPr>
            <a:endParaRPr lang="de-DE"/>
          </a:p>
          <a:p>
            <a:pPr marL="0" indent="0" algn="ctr">
              <a:buNone/>
            </a:pPr>
            <a:endParaRPr lang="de-DE"/>
          </a:p>
          <a:p>
            <a:pPr marL="0" indent="0" algn="ctr">
              <a:buNone/>
            </a:pPr>
            <a:r>
              <a:rPr lang="de-DE"/>
              <a:t>Wenn Wetter = Regen, spanne ich den Schirm auf</a:t>
            </a:r>
          </a:p>
          <a:p>
            <a:pPr marL="0" indent="0" algn="ctr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 sz="2000"/>
              <a:t>Einleitung einer bedingten Aktion</a:t>
            </a:r>
          </a:p>
          <a:p>
            <a:pPr marL="0" indent="0">
              <a:buNone/>
            </a:pPr>
            <a:r>
              <a:rPr lang="de-DE" sz="2000"/>
              <a:t>Bedingungen basieren auf Vergleichen mit Vergleichsoperatoren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15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3EE1761-4FA6-4D30-BD3E-42F6724198C6}"/>
              </a:ext>
            </a:extLst>
          </p:cNvPr>
          <p:cNvSpPr/>
          <p:nvPr/>
        </p:nvSpPr>
        <p:spPr>
          <a:xfrm>
            <a:off x="2448910" y="3293899"/>
            <a:ext cx="3405352" cy="559142"/>
          </a:xfrm>
          <a:prstGeom prst="rect">
            <a:avLst/>
          </a:prstGeom>
          <a:solidFill>
            <a:schemeClr val="accent4">
              <a:lumMod val="40000"/>
              <a:lumOff val="60000"/>
              <a:alpha val="33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Legende: mit Pfeil nach unten 7">
            <a:extLst>
              <a:ext uri="{FF2B5EF4-FFF2-40B4-BE49-F238E27FC236}">
                <a16:creationId xmlns:a16="http://schemas.microsoft.com/office/drawing/2014/main" id="{E068D391-F4FE-4062-BC20-F63039CDE67E}"/>
              </a:ext>
            </a:extLst>
          </p:cNvPr>
          <p:cNvSpPr/>
          <p:nvPr/>
        </p:nvSpPr>
        <p:spPr>
          <a:xfrm>
            <a:off x="3124200" y="2470826"/>
            <a:ext cx="1828800" cy="958174"/>
          </a:xfrm>
          <a:prstGeom prst="downArrow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Bedingung</a:t>
            </a:r>
          </a:p>
        </p:txBody>
      </p:sp>
      <p:sp>
        <p:nvSpPr>
          <p:cNvPr id="10" name="Legende: mit Pfeil nach oben 9">
            <a:extLst>
              <a:ext uri="{FF2B5EF4-FFF2-40B4-BE49-F238E27FC236}">
                <a16:creationId xmlns:a16="http://schemas.microsoft.com/office/drawing/2014/main" id="{41A851A7-4371-46A5-A27D-940DFAC15AC0}"/>
              </a:ext>
            </a:extLst>
          </p:cNvPr>
          <p:cNvSpPr/>
          <p:nvPr/>
        </p:nvSpPr>
        <p:spPr>
          <a:xfrm>
            <a:off x="3124200" y="3717939"/>
            <a:ext cx="1828800" cy="955490"/>
          </a:xfrm>
          <a:prstGeom prst="upArrow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Vergleich</a:t>
            </a:r>
          </a:p>
        </p:txBody>
      </p:sp>
    </p:spTree>
    <p:extLst>
      <p:ext uri="{BB962C8B-B14F-4D97-AF65-F5344CB8AC3E}">
        <p14:creationId xmlns:p14="http://schemas.microsoft.com/office/powerpoint/2010/main" val="3045236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AE0E63-F716-4AA5-B711-30C9D1C51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400"/>
              <a:t>eine Aktion wird nur ausgeführt, wenn eine Bedingung erfüllt ist</a:t>
            </a:r>
          </a:p>
          <a:p>
            <a:pPr marL="0" indent="0">
              <a:buNone/>
            </a:pPr>
            <a:endParaRPr lang="de-DE"/>
          </a:p>
          <a:p>
            <a:pPr marL="0" indent="0" algn="ctr">
              <a:buNone/>
            </a:pPr>
            <a:endParaRPr lang="de-DE"/>
          </a:p>
          <a:p>
            <a:pPr marL="0" indent="0" algn="ctr">
              <a:buNone/>
            </a:pPr>
            <a:r>
              <a:rPr lang="de-DE"/>
              <a:t>Wenn es regnet, spanne ich den Schirm auf</a:t>
            </a:r>
          </a:p>
          <a:p>
            <a:pPr marL="0" indent="0" algn="ctr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 sz="2000"/>
              <a:t>Einleitung einer bedingten Aktion</a:t>
            </a:r>
          </a:p>
          <a:p>
            <a:pPr marL="0" indent="0">
              <a:buNone/>
            </a:pPr>
            <a:r>
              <a:rPr lang="de-DE" sz="2000"/>
              <a:t>Bedingungen basieren auf Vergleichen mit Vergleichsoperatoren</a:t>
            </a:r>
          </a:p>
          <a:p>
            <a:pPr marL="0" indent="0">
              <a:buNone/>
            </a:pPr>
            <a:r>
              <a:rPr lang="de-DE" sz="2000"/>
              <a:t>In der Programmierung statt Aktion: Anweisung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16</a:t>
            </a:fld>
            <a:endParaRPr lang="de-DE"/>
          </a:p>
        </p:txBody>
      </p:sp>
      <p:sp>
        <p:nvSpPr>
          <p:cNvPr id="6" name="Legende: mit Pfeil nach unten 5">
            <a:extLst>
              <a:ext uri="{FF2B5EF4-FFF2-40B4-BE49-F238E27FC236}">
                <a16:creationId xmlns:a16="http://schemas.microsoft.com/office/drawing/2014/main" id="{BD412B80-5FED-47D2-B82C-71C643054E2F}"/>
              </a:ext>
            </a:extLst>
          </p:cNvPr>
          <p:cNvSpPr/>
          <p:nvPr/>
        </p:nvSpPr>
        <p:spPr>
          <a:xfrm>
            <a:off x="6633482" y="2470826"/>
            <a:ext cx="1828800" cy="958174"/>
          </a:xfrm>
          <a:prstGeom prst="downArrow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Aktion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3EE1761-4FA6-4D30-BD3E-42F6724198C6}"/>
              </a:ext>
            </a:extLst>
          </p:cNvPr>
          <p:cNvSpPr/>
          <p:nvPr/>
        </p:nvSpPr>
        <p:spPr>
          <a:xfrm>
            <a:off x="5328744" y="3284366"/>
            <a:ext cx="3984875" cy="559142"/>
          </a:xfrm>
          <a:prstGeom prst="rect">
            <a:avLst/>
          </a:prstGeom>
          <a:solidFill>
            <a:schemeClr val="accent4">
              <a:lumMod val="40000"/>
              <a:lumOff val="60000"/>
              <a:alpha val="33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Legende: mit Pfeil nach unten 7">
            <a:extLst>
              <a:ext uri="{FF2B5EF4-FFF2-40B4-BE49-F238E27FC236}">
                <a16:creationId xmlns:a16="http://schemas.microsoft.com/office/drawing/2014/main" id="{E068D391-F4FE-4062-BC20-F63039CDE67E}"/>
              </a:ext>
            </a:extLst>
          </p:cNvPr>
          <p:cNvSpPr/>
          <p:nvPr/>
        </p:nvSpPr>
        <p:spPr>
          <a:xfrm>
            <a:off x="3124200" y="2470826"/>
            <a:ext cx="1828800" cy="958174"/>
          </a:xfrm>
          <a:prstGeom prst="downArrow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Bedingung</a:t>
            </a:r>
          </a:p>
        </p:txBody>
      </p:sp>
      <p:sp>
        <p:nvSpPr>
          <p:cNvPr id="10" name="Legende: mit Pfeil nach oben 9">
            <a:extLst>
              <a:ext uri="{FF2B5EF4-FFF2-40B4-BE49-F238E27FC236}">
                <a16:creationId xmlns:a16="http://schemas.microsoft.com/office/drawing/2014/main" id="{41A851A7-4371-46A5-A27D-940DFAC15AC0}"/>
              </a:ext>
            </a:extLst>
          </p:cNvPr>
          <p:cNvSpPr/>
          <p:nvPr/>
        </p:nvSpPr>
        <p:spPr>
          <a:xfrm>
            <a:off x="3124200" y="3717939"/>
            <a:ext cx="1828800" cy="955490"/>
          </a:xfrm>
          <a:prstGeom prst="upArrow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Vergleich</a:t>
            </a:r>
          </a:p>
        </p:txBody>
      </p:sp>
    </p:spTree>
    <p:extLst>
      <p:ext uri="{BB962C8B-B14F-4D97-AF65-F5344CB8AC3E}">
        <p14:creationId xmlns:p14="http://schemas.microsoft.com/office/powerpoint/2010/main" val="3134632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67F90-A31D-4C7E-BDCB-40C576E9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AE0E63-F716-4AA5-B711-30C9D1C51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400"/>
              <a:t>eine Anweisung wird nur ausgeführt, wenn eine Bedingung erfüllt ist</a:t>
            </a:r>
          </a:p>
          <a:p>
            <a:pPr marL="0" indent="0">
              <a:buNone/>
            </a:pPr>
            <a:endParaRPr lang="de-DE"/>
          </a:p>
          <a:p>
            <a:pPr marL="0" indent="0" algn="ctr">
              <a:buNone/>
            </a:pPr>
            <a:endParaRPr lang="de-DE"/>
          </a:p>
          <a:p>
            <a:pPr marL="0" indent="0" algn="ctr">
              <a:buNone/>
            </a:pPr>
            <a:r>
              <a:rPr lang="de-DE"/>
              <a:t>Wenn es regnet, spanne ich den Schirm auf</a:t>
            </a:r>
          </a:p>
          <a:p>
            <a:pPr marL="0" indent="0" algn="ctr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 sz="2000"/>
              <a:t>Einleitung einer bedingten Anweisung</a:t>
            </a:r>
          </a:p>
          <a:p>
            <a:pPr marL="0" indent="0">
              <a:buNone/>
            </a:pPr>
            <a:r>
              <a:rPr lang="de-DE" sz="2000"/>
              <a:t>Bedingungen basieren auf Vergleichen mit Vergleichsoperatoren</a:t>
            </a:r>
          </a:p>
          <a:p>
            <a:pPr marL="0" indent="0">
              <a:buNone/>
            </a:pPr>
            <a:r>
              <a:rPr lang="de-DE" sz="2000"/>
              <a:t>Anweisung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8FC0FE-E4C8-47BD-AE0D-0DCAA1F9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2414E4-AD05-4567-8735-F7D294BA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17</a:t>
            </a:fld>
            <a:endParaRPr lang="de-DE"/>
          </a:p>
        </p:txBody>
      </p:sp>
      <p:sp>
        <p:nvSpPr>
          <p:cNvPr id="6" name="Legende: mit Pfeil nach unten 5">
            <a:extLst>
              <a:ext uri="{FF2B5EF4-FFF2-40B4-BE49-F238E27FC236}">
                <a16:creationId xmlns:a16="http://schemas.microsoft.com/office/drawing/2014/main" id="{BD412B80-5FED-47D2-B82C-71C643054E2F}"/>
              </a:ext>
            </a:extLst>
          </p:cNvPr>
          <p:cNvSpPr/>
          <p:nvPr/>
        </p:nvSpPr>
        <p:spPr>
          <a:xfrm>
            <a:off x="6633482" y="2470826"/>
            <a:ext cx="1828800" cy="958174"/>
          </a:xfrm>
          <a:prstGeom prst="downArrow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Aktion</a:t>
            </a:r>
          </a:p>
        </p:txBody>
      </p:sp>
      <p:sp>
        <p:nvSpPr>
          <p:cNvPr id="8" name="Legende: mit Pfeil nach unten 7">
            <a:extLst>
              <a:ext uri="{FF2B5EF4-FFF2-40B4-BE49-F238E27FC236}">
                <a16:creationId xmlns:a16="http://schemas.microsoft.com/office/drawing/2014/main" id="{E068D391-F4FE-4062-BC20-F63039CDE67E}"/>
              </a:ext>
            </a:extLst>
          </p:cNvPr>
          <p:cNvSpPr/>
          <p:nvPr/>
        </p:nvSpPr>
        <p:spPr>
          <a:xfrm>
            <a:off x="3124200" y="2470826"/>
            <a:ext cx="1828800" cy="958174"/>
          </a:xfrm>
          <a:prstGeom prst="downArrow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Bedingung</a:t>
            </a:r>
          </a:p>
        </p:txBody>
      </p:sp>
      <p:sp>
        <p:nvSpPr>
          <p:cNvPr id="10" name="Legende: mit Pfeil nach oben 9">
            <a:extLst>
              <a:ext uri="{FF2B5EF4-FFF2-40B4-BE49-F238E27FC236}">
                <a16:creationId xmlns:a16="http://schemas.microsoft.com/office/drawing/2014/main" id="{41A851A7-4371-46A5-A27D-940DFAC15AC0}"/>
              </a:ext>
            </a:extLst>
          </p:cNvPr>
          <p:cNvSpPr/>
          <p:nvPr/>
        </p:nvSpPr>
        <p:spPr>
          <a:xfrm>
            <a:off x="3124200" y="3717939"/>
            <a:ext cx="1828800" cy="955490"/>
          </a:xfrm>
          <a:prstGeom prst="upArrow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Vergleich</a:t>
            </a:r>
          </a:p>
        </p:txBody>
      </p:sp>
    </p:spTree>
    <p:extLst>
      <p:ext uri="{BB962C8B-B14F-4D97-AF65-F5344CB8AC3E}">
        <p14:creationId xmlns:p14="http://schemas.microsoft.com/office/powerpoint/2010/main" val="1978756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5130E-654E-4C1A-B760-C88A8460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86A0AE-1AF3-4892-BD82-02A71034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/>
              <a:t>Einleitung einer bedingten Anweisung</a:t>
            </a:r>
          </a:p>
          <a:p>
            <a:pPr marL="0" indent="0"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Bedingungen basieren auf Vergleichen mit Vergleichsoperatoren</a:t>
            </a:r>
          </a:p>
          <a:p>
            <a:pPr marL="0" indent="0"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Anweisung</a:t>
            </a:r>
          </a:p>
          <a:p>
            <a:pPr marL="0" indent="0">
              <a:buNone/>
            </a:pPr>
            <a:endParaRPr lang="de-DE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de-DE"/>
              <a:t>if</a:t>
            </a:r>
            <a:endParaRPr lang="de-DE">
              <a:solidFill>
                <a:schemeClr val="bg2">
                  <a:lumMod val="75000"/>
                </a:schemeClr>
              </a:solidFill>
            </a:endParaRP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0D6755-8370-40F4-A5A2-0ED2E2B5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14264E-93DA-48D6-82A6-AB7D6AB0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030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5130E-654E-4C1A-B760-C88A8460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86A0AE-1AF3-4892-BD82-02A71034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Einleitung einer bedingten Anweisung</a:t>
            </a:r>
          </a:p>
          <a:p>
            <a:pPr marL="0" indent="0">
              <a:buNone/>
            </a:pPr>
            <a:r>
              <a:rPr lang="de-DE" b="1"/>
              <a:t>Bedingungen basieren auf Vergleichen mit Vergleichsoperatoren</a:t>
            </a:r>
          </a:p>
          <a:p>
            <a:pPr marL="0" indent="0"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Anweisung</a:t>
            </a:r>
          </a:p>
          <a:p>
            <a:pPr marL="0" indent="0">
              <a:buNone/>
            </a:pPr>
            <a:endParaRPr lang="de-DE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de-DE"/>
              <a:t>if Zahl % 7 == 0:</a:t>
            </a:r>
          </a:p>
          <a:p>
            <a:pPr marL="0" indent="0">
              <a:buNone/>
            </a:pPr>
            <a:r>
              <a:rPr lang="de-DE"/>
              <a:t>          </a:t>
            </a:r>
            <a:endParaRPr lang="de-DE">
              <a:solidFill>
                <a:schemeClr val="bg2">
                  <a:lumMod val="75000"/>
                </a:schemeClr>
              </a:solidFill>
            </a:endParaRP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0D6755-8370-40F4-A5A2-0ED2E2B5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14264E-93DA-48D6-82A6-AB7D6AB0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574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5130E-654E-4C1A-B760-C88A8460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86A0AE-1AF3-4892-BD82-02A71034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Einleitung einer bedingten Anweisung</a:t>
            </a:r>
          </a:p>
          <a:p>
            <a:pPr marL="0" indent="0">
              <a:buNone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Bedingungen basieren auf Vergleichen mit Vergleichsoperatoren</a:t>
            </a:r>
          </a:p>
          <a:p>
            <a:pPr marL="0" indent="0">
              <a:buNone/>
            </a:pPr>
            <a:r>
              <a:rPr lang="de-DE" b="1"/>
              <a:t>Anweisung</a:t>
            </a:r>
          </a:p>
          <a:p>
            <a:pPr marL="0" indent="0">
              <a:buNone/>
            </a:pPr>
            <a:endParaRPr lang="de-DE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de-DE"/>
              <a:t>if Zahl % 7 == 0:</a:t>
            </a:r>
          </a:p>
          <a:p>
            <a:pPr marL="0" indent="0">
              <a:buNone/>
            </a:pPr>
            <a:r>
              <a:rPr lang="de-DE"/>
              <a:t>          print("Die Zahl ist durch 7 teilbar")</a:t>
            </a:r>
          </a:p>
          <a:p>
            <a:pPr marL="0" indent="0">
              <a:buNone/>
            </a:pPr>
            <a:endParaRPr lang="de-DE">
              <a:solidFill>
                <a:schemeClr val="bg2">
                  <a:lumMod val="75000"/>
                </a:schemeClr>
              </a:solidFill>
            </a:endParaRP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0D6755-8370-40F4-A5A2-0ED2E2B5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14264E-93DA-48D6-82A6-AB7D6AB0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4183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22B046-09F6-4846-AB72-AE7FAB4D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A15ADC-BF0D-4EA4-A9B6-1A6289C5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Es ist Sonntag.</a:t>
            </a:r>
          </a:p>
          <a:p>
            <a:pPr marL="0" indent="0">
              <a:buNone/>
            </a:pPr>
            <a:r>
              <a:rPr lang="de-DE"/>
              <a:t>Ich werde einen Spaziergang machen.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Wenn es regnet,</a:t>
            </a:r>
          </a:p>
          <a:p>
            <a:pPr marL="0" indent="0">
              <a:buNone/>
            </a:pPr>
            <a:r>
              <a:rPr lang="de-DE"/>
              <a:t>         werde ich den Schirm aufspannen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Auf meinem Rückweg werde ich Kuchen kaufen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21015A-571C-4480-9C29-A0389446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E335CB-91C9-4496-9C65-C75AF712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871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22B046-09F6-4846-AB72-AE7FAB4D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A15ADC-BF0D-4EA4-A9B6-1A6289C5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Es ist Sonntag.</a:t>
            </a:r>
          </a:p>
          <a:p>
            <a:pPr marL="0" indent="0">
              <a:buNone/>
            </a:pPr>
            <a:r>
              <a:rPr lang="de-DE"/>
              <a:t>Ich werde einen Spaziergang machen.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Wenn es regnet,</a:t>
            </a:r>
          </a:p>
          <a:p>
            <a:pPr marL="0" indent="0">
              <a:buNone/>
            </a:pPr>
            <a:r>
              <a:rPr lang="de-DE"/>
              <a:t>         werde ich den Schirm aufspannen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Auf meinem Rückweg werde ich Kuchen kaufen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21015A-571C-4480-9C29-A0389446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E335CB-91C9-4496-9C65-C75AF712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22</a:t>
            </a:fld>
            <a:endParaRPr lang="de-DE"/>
          </a:p>
        </p:txBody>
      </p:sp>
      <p:sp>
        <p:nvSpPr>
          <p:cNvPr id="6" name="Legende: mit Pfeil nach links 5">
            <a:extLst>
              <a:ext uri="{FF2B5EF4-FFF2-40B4-BE49-F238E27FC236}">
                <a16:creationId xmlns:a16="http://schemas.microsoft.com/office/drawing/2014/main" id="{088AB706-1852-444E-809F-1A94823A6D54}"/>
              </a:ext>
            </a:extLst>
          </p:cNvPr>
          <p:cNvSpPr/>
          <p:nvPr/>
        </p:nvSpPr>
        <p:spPr>
          <a:xfrm>
            <a:off x="8153400" y="1825625"/>
            <a:ext cx="2743200" cy="812472"/>
          </a:xfrm>
          <a:prstGeom prst="leftArrow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immer</a:t>
            </a:r>
          </a:p>
        </p:txBody>
      </p:sp>
      <p:sp>
        <p:nvSpPr>
          <p:cNvPr id="7" name="Legende: mit Pfeil nach links 6">
            <a:extLst>
              <a:ext uri="{FF2B5EF4-FFF2-40B4-BE49-F238E27FC236}">
                <a16:creationId xmlns:a16="http://schemas.microsoft.com/office/drawing/2014/main" id="{7CE608A7-09BA-4352-BC58-EA31FEB92944}"/>
              </a:ext>
            </a:extLst>
          </p:cNvPr>
          <p:cNvSpPr/>
          <p:nvPr/>
        </p:nvSpPr>
        <p:spPr>
          <a:xfrm>
            <a:off x="8153400" y="3855819"/>
            <a:ext cx="2743200" cy="479288"/>
          </a:xfrm>
          <a:prstGeom prst="leftArrow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nur bei Regen</a:t>
            </a:r>
          </a:p>
        </p:txBody>
      </p:sp>
      <p:sp>
        <p:nvSpPr>
          <p:cNvPr id="8" name="Legende: mit Pfeil nach links 7">
            <a:extLst>
              <a:ext uri="{FF2B5EF4-FFF2-40B4-BE49-F238E27FC236}">
                <a16:creationId xmlns:a16="http://schemas.microsoft.com/office/drawing/2014/main" id="{9FCF861D-AA37-4A5F-8C09-A38279958E3B}"/>
              </a:ext>
            </a:extLst>
          </p:cNvPr>
          <p:cNvSpPr/>
          <p:nvPr/>
        </p:nvSpPr>
        <p:spPr>
          <a:xfrm>
            <a:off x="8153400" y="4855778"/>
            <a:ext cx="2743200" cy="479288"/>
          </a:xfrm>
          <a:prstGeom prst="leftArrow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immer</a:t>
            </a:r>
          </a:p>
        </p:txBody>
      </p:sp>
    </p:spTree>
    <p:extLst>
      <p:ext uri="{BB962C8B-B14F-4D97-AF65-F5344CB8AC3E}">
        <p14:creationId xmlns:p14="http://schemas.microsoft.com/office/powerpoint/2010/main" val="3574773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22B046-09F6-4846-AB72-AE7FAB4D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A15ADC-BF0D-4EA4-A9B6-1A6289C5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Es ist Sonntag.</a:t>
            </a:r>
          </a:p>
          <a:p>
            <a:pPr marL="0" indent="0">
              <a:buNone/>
            </a:pPr>
            <a:r>
              <a:rPr lang="de-DE"/>
              <a:t>Ich werde einen Spaziergang machen.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Wenn es regnet,</a:t>
            </a:r>
          </a:p>
          <a:p>
            <a:pPr marL="0" indent="0">
              <a:buNone/>
            </a:pPr>
            <a:r>
              <a:rPr lang="de-DE"/>
              <a:t>         werde ich den Schirm aufspannen</a:t>
            </a:r>
          </a:p>
          <a:p>
            <a:pPr marL="0" indent="0">
              <a:buNone/>
            </a:pPr>
            <a:r>
              <a:rPr lang="de-DE"/>
              <a:t>         und den Kragen hochschlagen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Auf meinem Rückweg werde ich Kuchen kaufen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21015A-571C-4480-9C29-A0389446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E335CB-91C9-4496-9C65-C75AF712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23</a:t>
            </a:fld>
            <a:endParaRPr lang="de-DE"/>
          </a:p>
        </p:txBody>
      </p:sp>
      <p:sp>
        <p:nvSpPr>
          <p:cNvPr id="6" name="Legende: mit Pfeil nach links 5">
            <a:extLst>
              <a:ext uri="{FF2B5EF4-FFF2-40B4-BE49-F238E27FC236}">
                <a16:creationId xmlns:a16="http://schemas.microsoft.com/office/drawing/2014/main" id="{088AB706-1852-444E-809F-1A94823A6D54}"/>
              </a:ext>
            </a:extLst>
          </p:cNvPr>
          <p:cNvSpPr/>
          <p:nvPr/>
        </p:nvSpPr>
        <p:spPr>
          <a:xfrm>
            <a:off x="8153400" y="1825625"/>
            <a:ext cx="2743200" cy="812472"/>
          </a:xfrm>
          <a:prstGeom prst="leftArrow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immer</a:t>
            </a:r>
          </a:p>
        </p:txBody>
      </p:sp>
      <p:sp>
        <p:nvSpPr>
          <p:cNvPr id="7" name="Legende: mit Pfeil nach links 6">
            <a:extLst>
              <a:ext uri="{FF2B5EF4-FFF2-40B4-BE49-F238E27FC236}">
                <a16:creationId xmlns:a16="http://schemas.microsoft.com/office/drawing/2014/main" id="{7CE608A7-09BA-4352-BC58-EA31FEB92944}"/>
              </a:ext>
            </a:extLst>
          </p:cNvPr>
          <p:cNvSpPr/>
          <p:nvPr/>
        </p:nvSpPr>
        <p:spPr>
          <a:xfrm>
            <a:off x="8153400" y="3918881"/>
            <a:ext cx="2743200" cy="812472"/>
          </a:xfrm>
          <a:prstGeom prst="leftArrow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nur bei Regen</a:t>
            </a:r>
          </a:p>
        </p:txBody>
      </p:sp>
      <p:sp>
        <p:nvSpPr>
          <p:cNvPr id="8" name="Legende: mit Pfeil nach links 7">
            <a:extLst>
              <a:ext uri="{FF2B5EF4-FFF2-40B4-BE49-F238E27FC236}">
                <a16:creationId xmlns:a16="http://schemas.microsoft.com/office/drawing/2014/main" id="{9FCF861D-AA37-4A5F-8C09-A38279958E3B}"/>
              </a:ext>
            </a:extLst>
          </p:cNvPr>
          <p:cNvSpPr/>
          <p:nvPr/>
        </p:nvSpPr>
        <p:spPr>
          <a:xfrm>
            <a:off x="8153400" y="5391806"/>
            <a:ext cx="2743200" cy="479288"/>
          </a:xfrm>
          <a:prstGeom prst="leftArrow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immer</a:t>
            </a:r>
          </a:p>
        </p:txBody>
      </p:sp>
    </p:spTree>
    <p:extLst>
      <p:ext uri="{BB962C8B-B14F-4D97-AF65-F5344CB8AC3E}">
        <p14:creationId xmlns:p14="http://schemas.microsoft.com/office/powerpoint/2010/main" val="3979127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22B046-09F6-4846-AB72-AE7FAB4D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A15ADC-BF0D-4EA4-A9B6-1A6289C5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Es ist Sonntag.</a:t>
            </a:r>
          </a:p>
          <a:p>
            <a:pPr marL="0" indent="0">
              <a:buNone/>
            </a:pPr>
            <a:r>
              <a:rPr lang="de-DE"/>
              <a:t>Ich werde einen Spaziergang machen.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Wenn es regnet,</a:t>
            </a:r>
          </a:p>
          <a:p>
            <a:pPr marL="0" indent="0">
              <a:buNone/>
            </a:pPr>
            <a:r>
              <a:rPr lang="de-DE"/>
              <a:t>         werde ich den Schirm aufspannen</a:t>
            </a:r>
          </a:p>
          <a:p>
            <a:pPr marL="0" indent="0">
              <a:buNone/>
            </a:pPr>
            <a:r>
              <a:rPr lang="de-DE"/>
              <a:t>         und den Kragen hochschlagen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Auf meinem Rückweg werde ich Kuchen kaufen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21015A-571C-4480-9C29-A0389446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E335CB-91C9-4496-9C65-C75AF712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24</a:t>
            </a:fld>
            <a:endParaRPr lang="de-DE"/>
          </a:p>
        </p:txBody>
      </p:sp>
      <p:sp>
        <p:nvSpPr>
          <p:cNvPr id="6" name="Legende: mit Pfeil nach links 5">
            <a:extLst>
              <a:ext uri="{FF2B5EF4-FFF2-40B4-BE49-F238E27FC236}">
                <a16:creationId xmlns:a16="http://schemas.microsoft.com/office/drawing/2014/main" id="{088AB706-1852-444E-809F-1A94823A6D54}"/>
              </a:ext>
            </a:extLst>
          </p:cNvPr>
          <p:cNvSpPr/>
          <p:nvPr/>
        </p:nvSpPr>
        <p:spPr>
          <a:xfrm>
            <a:off x="8153400" y="1825625"/>
            <a:ext cx="2743200" cy="812472"/>
          </a:xfrm>
          <a:prstGeom prst="leftArrow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immer</a:t>
            </a:r>
          </a:p>
        </p:txBody>
      </p:sp>
      <p:sp>
        <p:nvSpPr>
          <p:cNvPr id="7" name="Legende: mit Pfeil nach links 6">
            <a:extLst>
              <a:ext uri="{FF2B5EF4-FFF2-40B4-BE49-F238E27FC236}">
                <a16:creationId xmlns:a16="http://schemas.microsoft.com/office/drawing/2014/main" id="{7CE608A7-09BA-4352-BC58-EA31FEB92944}"/>
              </a:ext>
            </a:extLst>
          </p:cNvPr>
          <p:cNvSpPr/>
          <p:nvPr/>
        </p:nvSpPr>
        <p:spPr>
          <a:xfrm>
            <a:off x="8153400" y="3918881"/>
            <a:ext cx="2743200" cy="812472"/>
          </a:xfrm>
          <a:prstGeom prst="leftArrow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nur bei Regen</a:t>
            </a:r>
          </a:p>
          <a:p>
            <a:pPr algn="ctr"/>
            <a:r>
              <a:rPr lang="de-DE"/>
              <a:t>(Block)</a:t>
            </a:r>
          </a:p>
        </p:txBody>
      </p:sp>
      <p:sp>
        <p:nvSpPr>
          <p:cNvPr id="8" name="Legende: mit Pfeil nach links 7">
            <a:extLst>
              <a:ext uri="{FF2B5EF4-FFF2-40B4-BE49-F238E27FC236}">
                <a16:creationId xmlns:a16="http://schemas.microsoft.com/office/drawing/2014/main" id="{9FCF861D-AA37-4A5F-8C09-A38279958E3B}"/>
              </a:ext>
            </a:extLst>
          </p:cNvPr>
          <p:cNvSpPr/>
          <p:nvPr/>
        </p:nvSpPr>
        <p:spPr>
          <a:xfrm>
            <a:off x="8153400" y="5391806"/>
            <a:ext cx="2743200" cy="479288"/>
          </a:xfrm>
          <a:prstGeom prst="leftArrow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immer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DDE65EB-2BF1-4EB7-83F6-29F06A080865}"/>
              </a:ext>
            </a:extLst>
          </p:cNvPr>
          <p:cNvSpPr/>
          <p:nvPr/>
        </p:nvSpPr>
        <p:spPr>
          <a:xfrm>
            <a:off x="1502979" y="3794234"/>
            <a:ext cx="5171090" cy="1061545"/>
          </a:xfrm>
          <a:prstGeom prst="rect">
            <a:avLst/>
          </a:prstGeom>
          <a:solidFill>
            <a:schemeClr val="accent4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1280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0BACA-76C5-4219-AF7E-F54415F9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80D31C-9BCF-42A7-9018-532F14D9F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Es muß irgendwie festgelegt werden,</a:t>
            </a:r>
          </a:p>
          <a:p>
            <a:pPr marL="0" indent="0">
              <a:buNone/>
            </a:pPr>
            <a:r>
              <a:rPr lang="de-DE"/>
              <a:t>daß mehrere zusammengehörige Anweisungen</a:t>
            </a:r>
          </a:p>
          <a:p>
            <a:pPr marL="0" indent="0">
              <a:buNone/>
            </a:pPr>
            <a:r>
              <a:rPr lang="de-DE"/>
              <a:t>nur unter bestimmten Bedingungen ausgeführt werden sollen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D6819E-4E29-4B91-AD00-CCD0A5E91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D21DFB-4367-4D33-9F7F-63CDE319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7328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DAA095-ABFA-482A-8DB6-AF660D31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F8C91E-E216-42DF-AE36-981A7C983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082" y="1825625"/>
            <a:ext cx="8221717" cy="4351338"/>
          </a:xfrm>
        </p:spPr>
        <p:txBody>
          <a:bodyPr/>
          <a:lstStyle/>
          <a:p>
            <a:pPr marL="0" indent="0">
              <a:buNone/>
            </a:pPr>
            <a:r>
              <a:rPr lang="de-DE"/>
              <a:t>in den C-Sprachen:</a:t>
            </a:r>
          </a:p>
          <a:p>
            <a:endParaRPr lang="de-DE"/>
          </a:p>
          <a:p>
            <a:pPr marL="0" indent="0">
              <a:buNone/>
            </a:pPr>
            <a:r>
              <a:rPr lang="de-DE"/>
              <a:t>if(Zahl % 7 == 0)</a:t>
            </a:r>
          </a:p>
          <a:p>
            <a:pPr marL="0" indent="0">
              <a:buNone/>
            </a:pPr>
            <a:r>
              <a:rPr lang="de-DE"/>
              <a:t>{</a:t>
            </a:r>
          </a:p>
          <a:p>
            <a:pPr marL="0" indent="0">
              <a:buNone/>
            </a:pPr>
            <a:r>
              <a:rPr lang="de-DE"/>
              <a:t>        print("Ich habe die Zahl geprüft:")</a:t>
            </a:r>
          </a:p>
          <a:p>
            <a:pPr marL="0" indent="0">
              <a:buNone/>
            </a:pPr>
            <a:r>
              <a:rPr lang="de-DE"/>
              <a:t>        print("die Zahl ist durch 7 teilbar")</a:t>
            </a:r>
          </a:p>
          <a:p>
            <a:pPr marL="0" indent="0">
              <a:buNone/>
            </a:pPr>
            <a:r>
              <a:rPr lang="de-DE"/>
              <a:t>}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F0C1E3-281C-475D-BB74-FC090150C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7DA616-8DB7-47A7-9B1F-BBF535F8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26</a:t>
            </a:fld>
            <a:endParaRPr lang="de-DE"/>
          </a:p>
        </p:txBody>
      </p:sp>
      <p:sp>
        <p:nvSpPr>
          <p:cNvPr id="6" name="Legende: mit Pfeil nach rechts 5">
            <a:extLst>
              <a:ext uri="{FF2B5EF4-FFF2-40B4-BE49-F238E27FC236}">
                <a16:creationId xmlns:a16="http://schemas.microsoft.com/office/drawing/2014/main" id="{E0180E18-5156-40CB-B418-E64AD8B59F60}"/>
              </a:ext>
            </a:extLst>
          </p:cNvPr>
          <p:cNvSpPr/>
          <p:nvPr/>
        </p:nvSpPr>
        <p:spPr>
          <a:xfrm>
            <a:off x="838199" y="3429000"/>
            <a:ext cx="2304394" cy="428297"/>
          </a:xfrm>
          <a:prstGeom prst="rightArrowCallout">
            <a:avLst>
              <a:gd name="adj1" fmla="val 20092"/>
              <a:gd name="adj2" fmla="val 29908"/>
              <a:gd name="adj3" fmla="val 61810"/>
              <a:gd name="adj4" fmla="val 7911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Block startet</a:t>
            </a:r>
          </a:p>
        </p:txBody>
      </p:sp>
      <p:sp>
        <p:nvSpPr>
          <p:cNvPr id="7" name="Legende: mit Pfeil nach rechts 6">
            <a:extLst>
              <a:ext uri="{FF2B5EF4-FFF2-40B4-BE49-F238E27FC236}">
                <a16:creationId xmlns:a16="http://schemas.microsoft.com/office/drawing/2014/main" id="{2AF0B76B-2E94-44B9-B833-4623986741D4}"/>
              </a:ext>
            </a:extLst>
          </p:cNvPr>
          <p:cNvSpPr/>
          <p:nvPr/>
        </p:nvSpPr>
        <p:spPr>
          <a:xfrm>
            <a:off x="832944" y="4879181"/>
            <a:ext cx="2304394" cy="428297"/>
          </a:xfrm>
          <a:prstGeom prst="rightArrowCallout">
            <a:avLst>
              <a:gd name="adj1" fmla="val 20092"/>
              <a:gd name="adj2" fmla="val 29908"/>
              <a:gd name="adj3" fmla="val 61810"/>
              <a:gd name="adj4" fmla="val 7911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Block endet</a:t>
            </a:r>
          </a:p>
        </p:txBody>
      </p:sp>
    </p:spTree>
    <p:extLst>
      <p:ext uri="{BB962C8B-B14F-4D97-AF65-F5344CB8AC3E}">
        <p14:creationId xmlns:p14="http://schemas.microsoft.com/office/powerpoint/2010/main" val="1778349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DAA095-ABFA-482A-8DB6-AF660D31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F8C91E-E216-42DF-AE36-981A7C983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6372" y="1825625"/>
            <a:ext cx="7927428" cy="1603375"/>
          </a:xfrm>
        </p:spPr>
        <p:txBody>
          <a:bodyPr/>
          <a:lstStyle/>
          <a:p>
            <a:pPr marL="0" indent="0">
              <a:buNone/>
            </a:pPr>
            <a:r>
              <a:rPr lang="de-DE"/>
              <a:t>if Zahl % 7 == 0:</a:t>
            </a:r>
          </a:p>
          <a:p>
            <a:pPr marL="0" indent="0">
              <a:buNone/>
            </a:pPr>
            <a:r>
              <a:rPr lang="de-DE"/>
              <a:t>        print("Ich habe die Zahl geprüft:")</a:t>
            </a:r>
          </a:p>
          <a:p>
            <a:pPr marL="0" indent="0">
              <a:buNone/>
            </a:pPr>
            <a:r>
              <a:rPr lang="de-DE"/>
              <a:t>        print("die Zahl ist durch 7 teilbar")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F0C1E3-281C-475D-BB74-FC090150C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7DA616-8DB7-47A7-9B1F-BBF535F8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27</a:t>
            </a:fld>
            <a:endParaRPr lang="de-DE"/>
          </a:p>
        </p:txBody>
      </p:sp>
      <p:sp>
        <p:nvSpPr>
          <p:cNvPr id="6" name="Legende: mit Pfeil nach rechts 5">
            <a:extLst>
              <a:ext uri="{FF2B5EF4-FFF2-40B4-BE49-F238E27FC236}">
                <a16:creationId xmlns:a16="http://schemas.microsoft.com/office/drawing/2014/main" id="{8C4EB20B-CAC9-45B2-A575-45272871F681}"/>
              </a:ext>
            </a:extLst>
          </p:cNvPr>
          <p:cNvSpPr/>
          <p:nvPr/>
        </p:nvSpPr>
        <p:spPr>
          <a:xfrm>
            <a:off x="974834" y="2356945"/>
            <a:ext cx="2304394" cy="428297"/>
          </a:xfrm>
          <a:prstGeom prst="rightArrowCallout">
            <a:avLst>
              <a:gd name="adj1" fmla="val 20092"/>
              <a:gd name="adj2" fmla="val 29908"/>
              <a:gd name="adj3" fmla="val 61810"/>
              <a:gd name="adj4" fmla="val 7911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gehört zum Block</a:t>
            </a:r>
          </a:p>
        </p:txBody>
      </p:sp>
      <p:sp>
        <p:nvSpPr>
          <p:cNvPr id="7" name="Legende: mit Pfeil nach rechts 6">
            <a:extLst>
              <a:ext uri="{FF2B5EF4-FFF2-40B4-BE49-F238E27FC236}">
                <a16:creationId xmlns:a16="http://schemas.microsoft.com/office/drawing/2014/main" id="{E635B0BD-D784-4ADE-9AAE-E550B4FD5FB9}"/>
              </a:ext>
            </a:extLst>
          </p:cNvPr>
          <p:cNvSpPr/>
          <p:nvPr/>
        </p:nvSpPr>
        <p:spPr>
          <a:xfrm>
            <a:off x="974834" y="2866697"/>
            <a:ext cx="2304394" cy="428297"/>
          </a:xfrm>
          <a:prstGeom prst="rightArrowCallout">
            <a:avLst>
              <a:gd name="adj1" fmla="val 20092"/>
              <a:gd name="adj2" fmla="val 29908"/>
              <a:gd name="adj3" fmla="val 61810"/>
              <a:gd name="adj4" fmla="val 7911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gehört zum Block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7416D839-824F-470E-833B-A15131A8DF22}"/>
              </a:ext>
            </a:extLst>
          </p:cNvPr>
          <p:cNvSpPr txBox="1">
            <a:spLocks/>
          </p:cNvSpPr>
          <p:nvPr/>
        </p:nvSpPr>
        <p:spPr>
          <a:xfrm>
            <a:off x="838200" y="4422338"/>
            <a:ext cx="10515600" cy="997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In Python werden Anweisungen zusammengefaßt,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indem die Anweisungen die gleiche Einrückung haben</a:t>
            </a:r>
          </a:p>
        </p:txBody>
      </p:sp>
    </p:spTree>
    <p:extLst>
      <p:ext uri="{BB962C8B-B14F-4D97-AF65-F5344CB8AC3E}">
        <p14:creationId xmlns:p14="http://schemas.microsoft.com/office/powerpoint/2010/main" val="2448703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DAA095-ABFA-482A-8DB6-AF660D31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F8C91E-E216-42DF-AE36-981A7C983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6372" y="1825625"/>
            <a:ext cx="7927428" cy="4351338"/>
          </a:xfrm>
        </p:spPr>
        <p:txBody>
          <a:bodyPr/>
          <a:lstStyle/>
          <a:p>
            <a:pPr marL="0" indent="0">
              <a:buNone/>
            </a:pPr>
            <a:r>
              <a:rPr lang="de-DE"/>
              <a:t>if Zahl % 7 == 0:</a:t>
            </a:r>
          </a:p>
          <a:p>
            <a:pPr marL="0" indent="0">
              <a:buNone/>
            </a:pPr>
            <a:r>
              <a:rPr lang="de-DE"/>
              <a:t>        print("Ich habe die Zahl geprüft:")</a:t>
            </a:r>
          </a:p>
          <a:p>
            <a:pPr marL="0" indent="0">
              <a:buNone/>
            </a:pPr>
            <a:r>
              <a:rPr lang="de-DE"/>
              <a:t>print("die Zahl ist durch 7 teilbar")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F0C1E3-281C-475D-BB74-FC090150C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7DA616-8DB7-47A7-9B1F-BBF535F8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28</a:t>
            </a:fld>
            <a:endParaRPr lang="de-DE"/>
          </a:p>
        </p:txBody>
      </p:sp>
      <p:sp>
        <p:nvSpPr>
          <p:cNvPr id="6" name="Legende: mit Pfeil nach rechts 5">
            <a:extLst>
              <a:ext uri="{FF2B5EF4-FFF2-40B4-BE49-F238E27FC236}">
                <a16:creationId xmlns:a16="http://schemas.microsoft.com/office/drawing/2014/main" id="{8C4EB20B-CAC9-45B2-A575-45272871F681}"/>
              </a:ext>
            </a:extLst>
          </p:cNvPr>
          <p:cNvSpPr/>
          <p:nvPr/>
        </p:nvSpPr>
        <p:spPr>
          <a:xfrm>
            <a:off x="974834" y="2356945"/>
            <a:ext cx="2304394" cy="428297"/>
          </a:xfrm>
          <a:prstGeom prst="rightArrowCallout">
            <a:avLst>
              <a:gd name="adj1" fmla="val 20092"/>
              <a:gd name="adj2" fmla="val 29908"/>
              <a:gd name="adj3" fmla="val 61810"/>
              <a:gd name="adj4" fmla="val 7911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gehört zum Block</a:t>
            </a:r>
          </a:p>
        </p:txBody>
      </p:sp>
    </p:spTree>
    <p:extLst>
      <p:ext uri="{BB962C8B-B14F-4D97-AF65-F5344CB8AC3E}">
        <p14:creationId xmlns:p14="http://schemas.microsoft.com/office/powerpoint/2010/main" val="3832918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5130E-654E-4C1A-B760-C88A8460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86A0AE-1AF3-4892-BD82-02A71034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Wenn es regnet, spanne ich den Schirm auf</a:t>
            </a:r>
          </a:p>
          <a:p>
            <a:pPr marL="0" indent="0">
              <a:buNone/>
            </a:pPr>
            <a:r>
              <a:rPr lang="de-DE"/>
              <a:t>Wenn es nicht regnet, lasse ich den Schirm zu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Abkürzung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Wenn es regnet, spanne ich den Schirm auf</a:t>
            </a:r>
          </a:p>
          <a:p>
            <a:pPr marL="0" indent="0">
              <a:buNone/>
            </a:pPr>
            <a:r>
              <a:rPr lang="de-DE" b="1" i="1"/>
              <a:t>sonst</a:t>
            </a:r>
            <a:r>
              <a:rPr lang="de-DE"/>
              <a:t> lasse ich den Schirm zu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0D6755-8370-40F4-A5A2-0ED2E2B5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14264E-93DA-48D6-82A6-AB7D6AB0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2269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5130E-654E-4C1A-B760-C88A8460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86A0AE-1AF3-4892-BD82-02A71034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/>
              <a:t>if Zahl % 7 == 0:</a:t>
            </a:r>
          </a:p>
          <a:p>
            <a:pPr marL="0" indent="0">
              <a:buNone/>
            </a:pPr>
            <a:r>
              <a:rPr lang="de-DE"/>
              <a:t>          print("Die Zahl ist durch 7 teilbar")</a:t>
            </a:r>
          </a:p>
          <a:p>
            <a:pPr marL="0" indent="0">
              <a:buNone/>
            </a:pPr>
            <a:r>
              <a:rPr lang="de-DE"/>
              <a:t>if Zahl % 7 != 0:</a:t>
            </a:r>
          </a:p>
          <a:p>
            <a:pPr marL="0" indent="0">
              <a:buNone/>
            </a:pPr>
            <a:r>
              <a:rPr lang="de-DE"/>
              <a:t>          print("Die Zahl ist nicht durch 7 teilbar")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Abkürzung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if Zahl % 7 == 0:</a:t>
            </a:r>
          </a:p>
          <a:p>
            <a:pPr marL="0" indent="0">
              <a:buNone/>
            </a:pPr>
            <a:r>
              <a:rPr lang="de-DE"/>
              <a:t>          print("Die Zahl ist durch 7 teilbar")</a:t>
            </a:r>
          </a:p>
          <a:p>
            <a:pPr marL="0" indent="0">
              <a:buNone/>
            </a:pPr>
            <a:r>
              <a:rPr lang="de-DE"/>
              <a:t>else:</a:t>
            </a:r>
          </a:p>
          <a:p>
            <a:pPr marL="0" indent="0">
              <a:buNone/>
            </a:pPr>
            <a:r>
              <a:rPr lang="de-DE"/>
              <a:t>          print("Die Zahl ist nicht durch 7 teilbar")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0D6755-8370-40F4-A5A2-0ED2E2B5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14264E-93DA-48D6-82A6-AB7D6AB0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683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D1ECC-4ED4-461F-8C2F-A1E3C3838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429F1B-52DB-429D-9217-7538F38F9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Wenn es Samstag ist, stelle ich den Wecker auf 8</a:t>
            </a:r>
          </a:p>
          <a:p>
            <a:pPr marL="0" indent="0">
              <a:buNone/>
            </a:pPr>
            <a:r>
              <a:rPr lang="de-DE"/>
              <a:t>wenn es nicht Samstag aber Sonntag ist, stelle ich keinen Wecker</a:t>
            </a:r>
          </a:p>
          <a:p>
            <a:pPr marL="0" indent="0">
              <a:buNone/>
            </a:pPr>
            <a:r>
              <a:rPr lang="de-DE"/>
              <a:t>wenn es weder Samstag noch Sonntag ist stelle ich den Wecker auf 7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Wenn es Samstag ist, stelle ich den Wecker auf 8</a:t>
            </a:r>
          </a:p>
          <a:p>
            <a:pPr marL="0" indent="0">
              <a:buNone/>
            </a:pPr>
            <a:r>
              <a:rPr lang="de-DE"/>
              <a:t>wenn es aber Sonntag ist, stelle ich keinen Wecker</a:t>
            </a:r>
          </a:p>
          <a:p>
            <a:pPr marL="0" indent="0">
              <a:buNone/>
            </a:pPr>
            <a:r>
              <a:rPr lang="de-DE"/>
              <a:t>sonst stelle ich den Wecker auf 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B509AF-E29F-4212-B566-5A08B6A4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2BC5DB-772B-4219-A6FB-C6B2545E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0530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D1ECC-4ED4-461F-8C2F-A1E3C3838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429F1B-52DB-429D-9217-7538F38F9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if Zahl == 0:</a:t>
            </a:r>
          </a:p>
          <a:p>
            <a:pPr marL="0" indent="0">
              <a:buNone/>
            </a:pPr>
            <a:r>
              <a:rPr lang="de-DE"/>
              <a:t>          print("Die Zahl ist 0")</a:t>
            </a:r>
          </a:p>
          <a:p>
            <a:pPr marL="0" indent="0">
              <a:buNone/>
            </a:pPr>
            <a:r>
              <a:rPr lang="de-DE"/>
              <a:t>elif Zahl &gt; 0:</a:t>
            </a:r>
          </a:p>
          <a:p>
            <a:pPr marL="0" indent="0">
              <a:buNone/>
            </a:pPr>
            <a:r>
              <a:rPr lang="de-DE"/>
              <a:t>          print("Die Zahl ist positiv")</a:t>
            </a:r>
          </a:p>
          <a:p>
            <a:pPr marL="0" indent="0">
              <a:buNone/>
            </a:pPr>
            <a:r>
              <a:rPr lang="de-DE"/>
              <a:t>else:</a:t>
            </a:r>
          </a:p>
          <a:p>
            <a:pPr marL="0" indent="0">
              <a:buNone/>
            </a:pPr>
            <a:r>
              <a:rPr lang="de-DE"/>
              <a:t>          print("Die Zahl ist negativ")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B509AF-E29F-4212-B566-5A08B6A4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2BC5DB-772B-4219-A6FB-C6B2545E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09548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D1ECC-4ED4-461F-8C2F-A1E3C3838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Anweisungen: verflixte 7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429F1B-52DB-429D-9217-7538F38F9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B509AF-E29F-4212-B566-5A08B6A4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2BC5DB-772B-4219-A6FB-C6B2545E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33</a:t>
            </a:fld>
            <a:endParaRPr lang="de-DE"/>
          </a:p>
        </p:txBody>
      </p:sp>
      <p:pic>
        <p:nvPicPr>
          <p:cNvPr id="6" name="Grafik 5" descr="Cmd (Terminal)">
            <a:extLst>
              <a:ext uri="{FF2B5EF4-FFF2-40B4-BE49-F238E27FC236}">
                <a16:creationId xmlns:a16="http://schemas.microsoft.com/office/drawing/2014/main" id="{5DCCF553-9723-46A0-9936-3500D79D5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6600" y="53038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76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3DCBC7-26F2-44CF-9CE9-BCF84F239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Anweisungen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DBB9D8-5314-4062-8AF0-806B299E8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ED360F-106D-4DAC-9934-9744F1CF7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A910A2-49C1-42BF-9F2E-35280D6C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34</a:t>
            </a:fld>
            <a:endParaRPr lang="de-DE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E5AA6BC-47DE-4E14-86A4-AE4F22987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88" y="1825625"/>
            <a:ext cx="3753178" cy="361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136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F6A45-EA8E-4B88-BDEF-A737141F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2003E4-4BBF-46AF-9B01-C5F26CE1B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Python interaktiv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Algorithmen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Verflixte Sieben als Problemstellung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Instruktionen bündeln</a:t>
            </a:r>
          </a:p>
          <a:p>
            <a:pPr marL="360363" indent="-360363"/>
            <a:r>
              <a:rPr lang="de-DE"/>
              <a:t>Grundelemente der Programmierung</a:t>
            </a:r>
          </a:p>
          <a:p>
            <a:pPr marL="719138" lvl="1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Variablen</a:t>
            </a:r>
          </a:p>
          <a:p>
            <a:pPr marL="719138" lvl="1" indent="-360363">
              <a:buFont typeface="Wingdings" panose="05000000000000000000" pitchFamily="2" charset="2"/>
              <a:buChar char="ü"/>
            </a:pPr>
            <a:r>
              <a:rPr lang="de-DE"/>
              <a:t>bedingte Anweisungen</a:t>
            </a:r>
          </a:p>
          <a:p>
            <a:pPr marL="719138" lvl="1" indent="-360363"/>
            <a:r>
              <a:rPr lang="de-DE">
                <a:solidFill>
                  <a:schemeClr val="bg2">
                    <a:lumMod val="75000"/>
                  </a:schemeClr>
                </a:solidFill>
              </a:rPr>
              <a:t>Schleifen</a:t>
            </a:r>
          </a:p>
          <a:p>
            <a:pPr marL="360363" indent="-360363"/>
            <a:r>
              <a:rPr lang="de-DE">
                <a:solidFill>
                  <a:schemeClr val="bg2">
                    <a:lumMod val="75000"/>
                  </a:schemeClr>
                </a:solidFill>
              </a:rPr>
              <a:t>Lösung verflixte Sieben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DFD074-9DA2-48A1-AE83-EEB62B2F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1F914A-9346-428F-BEB8-582F21A0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4799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</Words>
  <Application>Microsoft Office PowerPoint</Application>
  <PresentationFormat>Breitbild</PresentationFormat>
  <Paragraphs>365</Paragraphs>
  <Slides>35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Wingdings</vt:lpstr>
      <vt:lpstr>Office</vt:lpstr>
      <vt:lpstr>Übersicht</vt:lpstr>
      <vt:lpstr>bedingte Anweisungen: Problemstellung</vt:lpstr>
      <vt:lpstr>bedingte Anweisungen: Problemstellung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</vt:lpstr>
      <vt:lpstr>bedingte Anweisungen: verflixte 7</vt:lpstr>
      <vt:lpstr>bedingte Anweisungen</vt:lpstr>
      <vt:lpstr>Übersicht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PLinq</dc:title>
  <dc:creator>Dirk Laschet</dc:creator>
  <cp:lastModifiedBy>Dirk Laschet</cp:lastModifiedBy>
  <cp:revision>234</cp:revision>
  <dcterms:created xsi:type="dcterms:W3CDTF">2019-09-03T12:55:23Z</dcterms:created>
  <dcterms:modified xsi:type="dcterms:W3CDTF">2020-05-26T15:01:00Z</dcterms:modified>
</cp:coreProperties>
</file>